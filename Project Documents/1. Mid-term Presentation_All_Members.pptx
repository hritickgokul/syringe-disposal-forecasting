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300" y="8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d97ac3b89f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d97ac3b89f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d97ac3b89f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d97ac3b89f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2d96e7d8698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2d96e7d8698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2d97ac3b89f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2d97ac3b89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d97ac3b89f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d97ac3b89f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2d97ac3b89f_0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2d97ac3b89f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d97872c5ab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d97872c5ab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d97872c5ab_1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d97872c5ab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d97872c5ab_1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d97872c5ab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97ac3b89f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97ac3b89f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d97ac3b89f_3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d97ac3b89f_3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d97ac3b89f_3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d97ac3b89f_3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d97db38503_2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2d97db38503_2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d97ac3b89f_0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2d97ac3b89f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2d97ac3b89f_0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2d97ac3b89f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688" y="2821875"/>
            <a:ext cx="8520600" cy="19263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sz="2088" b="1">
                <a:latin typeface="Times New Roman"/>
                <a:ea typeface="Times New Roman"/>
                <a:cs typeface="Times New Roman"/>
                <a:sym typeface="Times New Roman"/>
              </a:rPr>
              <a:t>ALY6980 - Midterm Presentation</a:t>
            </a:r>
            <a:endParaRPr sz="2088" b="1">
              <a:latin typeface="Times New Roman"/>
              <a:ea typeface="Times New Roman"/>
              <a:cs typeface="Times New Roman"/>
              <a:sym typeface="Times New Roman"/>
            </a:endParaRPr>
          </a:p>
          <a:p>
            <a:pPr marL="0" lvl="0" indent="0" algn="ctr" rtl="0">
              <a:spcBef>
                <a:spcPts val="0"/>
              </a:spcBef>
              <a:spcAft>
                <a:spcPts val="0"/>
              </a:spcAft>
              <a:buNone/>
            </a:pPr>
            <a:endParaRPr sz="1533">
              <a:latin typeface="Times New Roman"/>
              <a:ea typeface="Times New Roman"/>
              <a:cs typeface="Times New Roman"/>
              <a:sym typeface="Times New Roman"/>
            </a:endParaRPr>
          </a:p>
          <a:p>
            <a:pPr marL="0" lvl="0" indent="0" algn="ctr" rtl="0">
              <a:lnSpc>
                <a:spcPct val="150000"/>
              </a:lnSpc>
              <a:spcBef>
                <a:spcPts val="0"/>
              </a:spcBef>
              <a:spcAft>
                <a:spcPts val="0"/>
              </a:spcAft>
              <a:buClr>
                <a:schemeClr val="dk1"/>
              </a:buClr>
              <a:buSzPct val="71739"/>
              <a:buFont typeface="Arial"/>
              <a:buNone/>
            </a:pPr>
            <a:r>
              <a:rPr lang="en" sz="1533">
                <a:latin typeface="Times New Roman"/>
                <a:ea typeface="Times New Roman"/>
                <a:cs typeface="Times New Roman"/>
                <a:sym typeface="Times New Roman"/>
              </a:rPr>
              <a:t>Group 8</a:t>
            </a:r>
            <a:endParaRPr sz="1533">
              <a:latin typeface="Times New Roman"/>
              <a:ea typeface="Times New Roman"/>
              <a:cs typeface="Times New Roman"/>
              <a:sym typeface="Times New Roman"/>
            </a:endParaRPr>
          </a:p>
          <a:p>
            <a:pPr marL="0" lvl="0" indent="0" algn="ctr" rtl="0">
              <a:lnSpc>
                <a:spcPct val="150000"/>
              </a:lnSpc>
              <a:spcBef>
                <a:spcPts val="0"/>
              </a:spcBef>
              <a:spcAft>
                <a:spcPts val="0"/>
              </a:spcAft>
              <a:buClr>
                <a:schemeClr val="dk1"/>
              </a:buClr>
              <a:buSzPct val="71739"/>
              <a:buFont typeface="Arial"/>
              <a:buNone/>
            </a:pPr>
            <a:r>
              <a:rPr lang="en" sz="1533">
                <a:latin typeface="Times New Roman"/>
                <a:ea typeface="Times New Roman"/>
                <a:cs typeface="Times New Roman"/>
                <a:sym typeface="Times New Roman"/>
              </a:rPr>
              <a:t>Akshay Ganesh Hanchate, Vidhi Rajeshbhai Mistry, Shengyao Xu &amp; Hrithick Gokul Yeddula</a:t>
            </a:r>
            <a:endParaRPr sz="1533">
              <a:latin typeface="Times New Roman"/>
              <a:ea typeface="Times New Roman"/>
              <a:cs typeface="Times New Roman"/>
              <a:sym typeface="Times New Roman"/>
            </a:endParaRPr>
          </a:p>
          <a:p>
            <a:pPr marL="0" lvl="0" indent="0" algn="ctr" rtl="0">
              <a:lnSpc>
                <a:spcPct val="150000"/>
              </a:lnSpc>
              <a:spcBef>
                <a:spcPts val="0"/>
              </a:spcBef>
              <a:spcAft>
                <a:spcPts val="0"/>
              </a:spcAft>
              <a:buClr>
                <a:schemeClr val="dk1"/>
              </a:buClr>
              <a:buSzPct val="71739"/>
              <a:buFont typeface="Arial"/>
              <a:buNone/>
            </a:pPr>
            <a:r>
              <a:rPr lang="en" sz="1533">
                <a:latin typeface="Times New Roman"/>
                <a:ea typeface="Times New Roman"/>
                <a:cs typeface="Times New Roman"/>
                <a:sym typeface="Times New Roman"/>
              </a:rPr>
              <a:t>Prof. Roy Wada</a:t>
            </a:r>
            <a:endParaRPr sz="1533">
              <a:latin typeface="Times New Roman"/>
              <a:ea typeface="Times New Roman"/>
              <a:cs typeface="Times New Roman"/>
              <a:sym typeface="Times New Roman"/>
            </a:endParaRPr>
          </a:p>
          <a:p>
            <a:pPr marL="0" lvl="0" indent="0" algn="ctr" rtl="0">
              <a:lnSpc>
                <a:spcPct val="150000"/>
              </a:lnSpc>
              <a:spcBef>
                <a:spcPts val="0"/>
              </a:spcBef>
              <a:spcAft>
                <a:spcPts val="0"/>
              </a:spcAft>
              <a:buNone/>
            </a:pPr>
            <a:r>
              <a:rPr lang="en" sz="1533">
                <a:latin typeface="Times New Roman"/>
                <a:ea typeface="Times New Roman"/>
                <a:cs typeface="Times New Roman"/>
                <a:sym typeface="Times New Roman"/>
              </a:rPr>
              <a:t>02/20/2025 </a:t>
            </a:r>
            <a:endParaRPr sz="2333"/>
          </a:p>
        </p:txBody>
      </p:sp>
      <p:pic>
        <p:nvPicPr>
          <p:cNvPr id="55" name="Google Shape;55;p13"/>
          <p:cNvPicPr preferRelativeResize="0"/>
          <p:nvPr/>
        </p:nvPicPr>
        <p:blipFill>
          <a:blip r:embed="rId3">
            <a:alphaModFix/>
          </a:blip>
          <a:stretch>
            <a:fillRect/>
          </a:stretch>
        </p:blipFill>
        <p:spPr>
          <a:xfrm>
            <a:off x="3348038" y="373950"/>
            <a:ext cx="2447925" cy="2447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1307100" y="76200"/>
            <a:ext cx="6529800" cy="58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 sz="2980"/>
              <a:t>INTRODUCTION</a:t>
            </a:r>
            <a:endParaRPr sz="2980"/>
          </a:p>
        </p:txBody>
      </p:sp>
      <p:sp>
        <p:nvSpPr>
          <p:cNvPr id="61" name="Google Shape;61;p14"/>
          <p:cNvSpPr txBox="1">
            <a:spLocks noGrp="1"/>
          </p:cNvSpPr>
          <p:nvPr>
            <p:ph type="subTitle" idx="1"/>
          </p:nvPr>
        </p:nvSpPr>
        <p:spPr>
          <a:xfrm>
            <a:off x="341325" y="573000"/>
            <a:ext cx="8613000" cy="4422300"/>
          </a:xfrm>
          <a:prstGeom prst="rect">
            <a:avLst/>
          </a:prstGeom>
        </p:spPr>
        <p:txBody>
          <a:bodyPr spcFirstLastPara="1" wrap="square" lIns="91425" tIns="91425" rIns="91425" bIns="91425" anchor="t" anchorCtr="0">
            <a:noAutofit/>
          </a:bodyPr>
          <a:lstStyle/>
          <a:p>
            <a:pPr marL="0" lvl="0" indent="0" algn="ctr" rtl="0">
              <a:lnSpc>
                <a:spcPct val="115000"/>
              </a:lnSpc>
              <a:spcBef>
                <a:spcPts val="1200"/>
              </a:spcBef>
              <a:spcAft>
                <a:spcPts val="0"/>
              </a:spcAft>
              <a:buClr>
                <a:schemeClr val="dk1"/>
              </a:buClr>
              <a:buSzPts val="1100"/>
              <a:buFont typeface="Arial"/>
              <a:buNone/>
            </a:pPr>
            <a:r>
              <a:rPr lang="en" sz="1500" b="1">
                <a:solidFill>
                  <a:schemeClr val="dk1"/>
                </a:solidFill>
              </a:rPr>
              <a:t>Boston 311 Syringe Request Analysis</a:t>
            </a:r>
            <a:endParaRPr sz="1500" b="1">
              <a:solidFill>
                <a:schemeClr val="dk1"/>
              </a:solidFill>
            </a:endParaRPr>
          </a:p>
          <a:p>
            <a:pPr marL="457200" lvl="0" indent="-323850" algn="l" rtl="0">
              <a:lnSpc>
                <a:spcPct val="115000"/>
              </a:lnSpc>
              <a:spcBef>
                <a:spcPts val="1200"/>
              </a:spcBef>
              <a:spcAft>
                <a:spcPts val="0"/>
              </a:spcAft>
              <a:buClr>
                <a:schemeClr val="dk1"/>
              </a:buClr>
              <a:buSzPts val="1500"/>
              <a:buChar char="●"/>
            </a:pPr>
            <a:r>
              <a:rPr lang="en" sz="1500" b="1">
                <a:solidFill>
                  <a:schemeClr val="dk1"/>
                </a:solidFill>
              </a:rPr>
              <a:t>Background:</a:t>
            </a:r>
            <a:endParaRPr sz="1500" b="1">
              <a:solidFill>
                <a:schemeClr val="dk1"/>
              </a:solidFill>
            </a:endParaRPr>
          </a:p>
          <a:p>
            <a:pPr marL="914400" lvl="1" indent="-323850" algn="l" rtl="0">
              <a:lnSpc>
                <a:spcPct val="115000"/>
              </a:lnSpc>
              <a:spcBef>
                <a:spcPts val="0"/>
              </a:spcBef>
              <a:spcAft>
                <a:spcPts val="0"/>
              </a:spcAft>
              <a:buClr>
                <a:schemeClr val="dk1"/>
              </a:buClr>
              <a:buSzPts val="1500"/>
              <a:buChar char="○"/>
            </a:pPr>
            <a:r>
              <a:rPr lang="en" sz="1500">
                <a:solidFill>
                  <a:schemeClr val="dk1"/>
                </a:solidFill>
              </a:rPr>
              <a:t>The opioid crisis in Boston is a critical public health issue.</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 sz="1500">
                <a:solidFill>
                  <a:schemeClr val="dk1"/>
                </a:solidFill>
              </a:rPr>
              <a:t>The project aims to analyze and visualize Boston 311 syringe request data to enhance harm reduction strategies.</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b="1">
                <a:solidFill>
                  <a:schemeClr val="dk1"/>
                </a:solidFill>
              </a:rPr>
              <a:t>Research Goals:</a:t>
            </a:r>
            <a:endParaRPr sz="1500" b="1">
              <a:solidFill>
                <a:schemeClr val="dk1"/>
              </a:solidFill>
            </a:endParaRPr>
          </a:p>
          <a:p>
            <a:pPr marL="914400" lvl="1" indent="-323850" algn="l" rtl="0">
              <a:lnSpc>
                <a:spcPct val="115000"/>
              </a:lnSpc>
              <a:spcBef>
                <a:spcPts val="0"/>
              </a:spcBef>
              <a:spcAft>
                <a:spcPts val="0"/>
              </a:spcAft>
              <a:buClr>
                <a:schemeClr val="dk1"/>
              </a:buClr>
              <a:buSzPts val="1500"/>
              <a:buChar char="○"/>
            </a:pPr>
            <a:r>
              <a:rPr lang="en" sz="1500">
                <a:solidFill>
                  <a:schemeClr val="dk1"/>
                </a:solidFill>
              </a:rPr>
              <a:t>Identifying high-risk areas and optimize resource allocation.</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 sz="1500">
                <a:solidFill>
                  <a:schemeClr val="dk1"/>
                </a:solidFill>
              </a:rPr>
              <a:t>Using geospatial analysis and predictive modeling for policy recommendations.</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 sz="1500">
                <a:solidFill>
                  <a:schemeClr val="dk1"/>
                </a:solidFill>
              </a:rPr>
              <a:t>Enhancing public health responses with data-driven decision-making.</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b="1">
                <a:solidFill>
                  <a:schemeClr val="dk1"/>
                </a:solidFill>
              </a:rPr>
              <a:t>Significance:</a:t>
            </a:r>
            <a:endParaRPr sz="1500" b="1">
              <a:solidFill>
                <a:schemeClr val="dk1"/>
              </a:solidFill>
            </a:endParaRPr>
          </a:p>
          <a:p>
            <a:pPr marL="914400" lvl="1" indent="-323850" algn="l" rtl="0">
              <a:lnSpc>
                <a:spcPct val="115000"/>
              </a:lnSpc>
              <a:spcBef>
                <a:spcPts val="0"/>
              </a:spcBef>
              <a:spcAft>
                <a:spcPts val="0"/>
              </a:spcAft>
              <a:buClr>
                <a:schemeClr val="dk1"/>
              </a:buClr>
              <a:buSzPts val="1500"/>
              <a:buChar char="○"/>
            </a:pPr>
            <a:r>
              <a:rPr lang="en" sz="1500">
                <a:solidFill>
                  <a:schemeClr val="dk1"/>
                </a:solidFill>
              </a:rPr>
              <a:t>Studies show that data-driven public health interventions improve harm reduction (Aguilera et al., 2021).</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 sz="1500">
                <a:solidFill>
                  <a:schemeClr val="dk1"/>
                </a:solidFill>
              </a:rPr>
              <a:t>Predictive analytics help in forecasting syringe disposal trends, allowing proactive resource management.</a:t>
            </a:r>
            <a:endParaRPr sz="2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Exploratory Data Analysis</a:t>
            </a:r>
            <a:endParaRPr/>
          </a:p>
        </p:txBody>
      </p:sp>
      <p:sp>
        <p:nvSpPr>
          <p:cNvPr id="67" name="Google Shape;67;p15"/>
          <p:cNvSpPr txBox="1">
            <a:spLocks noGrp="1"/>
          </p:cNvSpPr>
          <p:nvPr>
            <p:ph type="body" idx="1"/>
          </p:nvPr>
        </p:nvSpPr>
        <p:spPr>
          <a:xfrm>
            <a:off x="190175" y="1093925"/>
            <a:ext cx="51138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Clr>
                <a:schemeClr val="dk1"/>
              </a:buClr>
              <a:buSzPts val="1100"/>
              <a:buFont typeface="Arial"/>
              <a:buNone/>
            </a:pPr>
            <a:r>
              <a:rPr lang="en" sz="1500" b="1">
                <a:solidFill>
                  <a:schemeClr val="dk1"/>
                </a:solidFill>
              </a:rPr>
              <a:t>Distribution of Syringe Requests by Building Age</a:t>
            </a:r>
            <a:endParaRPr sz="1500" b="1">
              <a:solidFill>
                <a:schemeClr val="dk1"/>
              </a:solidFill>
            </a:endParaRPr>
          </a:p>
          <a:p>
            <a:pPr marL="457200" lvl="0" indent="-323850" algn="l" rtl="0">
              <a:spcBef>
                <a:spcPts val="1200"/>
              </a:spcBef>
              <a:spcAft>
                <a:spcPts val="0"/>
              </a:spcAft>
              <a:buClr>
                <a:schemeClr val="dk1"/>
              </a:buClr>
              <a:buSzPts val="1500"/>
              <a:buChar char="●"/>
            </a:pPr>
            <a:r>
              <a:rPr lang="en" sz="1500">
                <a:solidFill>
                  <a:schemeClr val="dk1"/>
                </a:solidFill>
              </a:rPr>
              <a:t>The histogram visualizes the relationship between the age of buildings and the number of syringe requests.</a:t>
            </a:r>
            <a:endParaRPr sz="1500">
              <a:solidFill>
                <a:schemeClr val="dk1"/>
              </a:solidFill>
            </a:endParaRPr>
          </a:p>
          <a:p>
            <a:pPr marL="457200" lvl="0" indent="-323850" algn="l" rtl="0">
              <a:spcBef>
                <a:spcPts val="0"/>
              </a:spcBef>
              <a:spcAft>
                <a:spcPts val="0"/>
              </a:spcAft>
              <a:buClr>
                <a:schemeClr val="dk1"/>
              </a:buClr>
              <a:buSzPts val="1500"/>
              <a:buChar char="●"/>
            </a:pPr>
            <a:r>
              <a:rPr lang="en" sz="1500" b="1">
                <a:solidFill>
                  <a:schemeClr val="dk1"/>
                </a:solidFill>
              </a:rPr>
              <a:t>Two noticeable peaks</a:t>
            </a:r>
            <a:r>
              <a:rPr lang="en" sz="1500">
                <a:solidFill>
                  <a:schemeClr val="dk1"/>
                </a:solidFill>
              </a:rPr>
              <a:t>: around </a:t>
            </a:r>
            <a:r>
              <a:rPr lang="en" sz="1500" b="1">
                <a:solidFill>
                  <a:schemeClr val="dk1"/>
                </a:solidFill>
              </a:rPr>
              <a:t>1900 and 1990</a:t>
            </a:r>
            <a:r>
              <a:rPr lang="en" sz="1500">
                <a:solidFill>
                  <a:schemeClr val="dk1"/>
                </a:solidFill>
              </a:rPr>
              <a:t>.</a:t>
            </a: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The highest peak corresponds to buildings from </a:t>
            </a:r>
            <a:r>
              <a:rPr lang="en" sz="1500" b="1">
                <a:solidFill>
                  <a:schemeClr val="dk1"/>
                </a:solidFill>
              </a:rPr>
              <a:t>around 1900</a:t>
            </a:r>
            <a:r>
              <a:rPr lang="en" sz="1500">
                <a:solidFill>
                  <a:schemeClr val="dk1"/>
                </a:solidFill>
              </a:rPr>
              <a:t>, indicating that older buildings may be more associated with syringe requests.</a:t>
            </a:r>
            <a:endParaRPr sz="1500">
              <a:solidFill>
                <a:schemeClr val="dk1"/>
              </a:solidFill>
            </a:endParaRPr>
          </a:p>
          <a:p>
            <a:pPr marL="0" lvl="0" indent="0" algn="l" rtl="0">
              <a:spcBef>
                <a:spcPts val="1200"/>
              </a:spcBef>
              <a:spcAft>
                <a:spcPts val="1200"/>
              </a:spcAft>
              <a:buNone/>
            </a:pPr>
            <a:endParaRPr sz="1500">
              <a:solidFill>
                <a:schemeClr val="dk1"/>
              </a:solidFill>
            </a:endParaRPr>
          </a:p>
        </p:txBody>
      </p:sp>
      <p:pic>
        <p:nvPicPr>
          <p:cNvPr id="68" name="Google Shape;68;p15"/>
          <p:cNvPicPr preferRelativeResize="0"/>
          <p:nvPr/>
        </p:nvPicPr>
        <p:blipFill>
          <a:blip r:embed="rId3">
            <a:alphaModFix/>
          </a:blip>
          <a:stretch>
            <a:fillRect/>
          </a:stretch>
        </p:blipFill>
        <p:spPr>
          <a:xfrm>
            <a:off x="5147900" y="1180637"/>
            <a:ext cx="3916226" cy="2415288"/>
          </a:xfrm>
          <a:prstGeom prst="rect">
            <a:avLst/>
          </a:prstGeom>
          <a:noFill/>
          <a:ln>
            <a:noFill/>
          </a:ln>
        </p:spPr>
      </p:pic>
      <p:sp>
        <p:nvSpPr>
          <p:cNvPr id="69" name="Google Shape;69;p15"/>
          <p:cNvSpPr txBox="1"/>
          <p:nvPr/>
        </p:nvSpPr>
        <p:spPr>
          <a:xfrm>
            <a:off x="311700" y="3958825"/>
            <a:ext cx="8520600" cy="754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rPr>
              <a:t>This insight can be particularly used to </a:t>
            </a:r>
            <a:r>
              <a:rPr lang="en" b="1">
                <a:solidFill>
                  <a:schemeClr val="dk1"/>
                </a:solidFill>
              </a:rPr>
              <a:t>allocate resources</a:t>
            </a:r>
            <a:r>
              <a:rPr lang="en">
                <a:solidFill>
                  <a:schemeClr val="dk1"/>
                </a:solidFill>
              </a:rPr>
              <a:t>, such as public disposal bins and harm reduction programs, to the most affected neighborhoods. </a:t>
            </a:r>
            <a:endParaRPr>
              <a:solidFill>
                <a:schemeClr val="dk1"/>
              </a:solidFill>
            </a:endParaRPr>
          </a:p>
          <a:p>
            <a:pPr marL="0" lvl="0" indent="0" algn="l" rtl="0">
              <a:lnSpc>
                <a:spcPct val="115000"/>
              </a:lnSpc>
              <a:spcBef>
                <a:spcPts val="0"/>
              </a:spcBef>
              <a:spcAft>
                <a:spcPts val="0"/>
              </a:spcAft>
              <a:buNone/>
            </a:pPr>
            <a:endParaRPr>
              <a:solidFill>
                <a:schemeClr val="dk1"/>
              </a:solidFill>
            </a:endParaRPr>
          </a:p>
          <a:p>
            <a:pPr marL="0" lvl="0" indent="0" algn="l" rtl="0">
              <a:lnSpc>
                <a:spcPct val="115000"/>
              </a:lnSpc>
              <a:spcBef>
                <a:spcPts val="0"/>
              </a:spcBef>
              <a:spcAft>
                <a:spcPts val="0"/>
              </a:spcAft>
              <a:buNone/>
            </a:pPr>
            <a:endParaRPr sz="2200">
              <a:solidFill>
                <a:schemeClr val="dk2"/>
              </a:solidFill>
              <a:highlight>
                <a:srgbClr val="FCE5CD"/>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Exploratory Data Analysis</a:t>
            </a:r>
            <a:endParaRPr/>
          </a:p>
        </p:txBody>
      </p:sp>
      <p:sp>
        <p:nvSpPr>
          <p:cNvPr id="75" name="Google Shape;75;p16"/>
          <p:cNvSpPr txBox="1">
            <a:spLocks noGrp="1"/>
          </p:cNvSpPr>
          <p:nvPr>
            <p:ph type="body" idx="1"/>
          </p:nvPr>
        </p:nvSpPr>
        <p:spPr>
          <a:xfrm>
            <a:off x="146300" y="1249100"/>
            <a:ext cx="53694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Clr>
                <a:schemeClr val="dk1"/>
              </a:buClr>
              <a:buSzPts val="1100"/>
              <a:buFont typeface="Arial"/>
              <a:buNone/>
            </a:pPr>
            <a:r>
              <a:rPr lang="en" sz="1600" b="1">
                <a:solidFill>
                  <a:schemeClr val="dk1"/>
                </a:solidFill>
              </a:rPr>
              <a:t>Syringe Requests by City Council District</a:t>
            </a:r>
            <a:endParaRPr sz="1600" b="1">
              <a:solidFill>
                <a:schemeClr val="dk1"/>
              </a:solidFill>
            </a:endParaRPr>
          </a:p>
          <a:p>
            <a:pPr marL="457200" lvl="0" indent="-330200" algn="l" rtl="0">
              <a:spcBef>
                <a:spcPts val="1200"/>
              </a:spcBef>
              <a:spcAft>
                <a:spcPts val="0"/>
              </a:spcAft>
              <a:buClr>
                <a:schemeClr val="dk1"/>
              </a:buClr>
              <a:buSzPts val="1600"/>
              <a:buChar char="●"/>
            </a:pPr>
            <a:r>
              <a:rPr lang="en" sz="1600">
                <a:solidFill>
                  <a:schemeClr val="dk1"/>
                </a:solidFill>
              </a:rPr>
              <a:t>The bar chart shows the distribution of syringe requests across different City Council districts.</a:t>
            </a:r>
            <a:endParaRPr sz="1600">
              <a:solidFill>
                <a:schemeClr val="dk1"/>
              </a:solidFill>
            </a:endParaRPr>
          </a:p>
          <a:p>
            <a:pPr marL="457200" lvl="0" indent="-330200" algn="l" rtl="0">
              <a:spcBef>
                <a:spcPts val="0"/>
              </a:spcBef>
              <a:spcAft>
                <a:spcPts val="0"/>
              </a:spcAft>
              <a:buClr>
                <a:schemeClr val="dk1"/>
              </a:buClr>
              <a:buSzPts val="1600"/>
              <a:buChar char="●"/>
            </a:pPr>
            <a:r>
              <a:rPr lang="en" sz="1600">
                <a:solidFill>
                  <a:schemeClr val="dk1"/>
                </a:solidFill>
              </a:rPr>
              <a:t>District </a:t>
            </a:r>
            <a:r>
              <a:rPr lang="en" sz="1600" b="1">
                <a:solidFill>
                  <a:schemeClr val="dk1"/>
                </a:solidFill>
              </a:rPr>
              <a:t>7 (Roxbury)</a:t>
            </a:r>
            <a:r>
              <a:rPr lang="en" sz="1600">
                <a:solidFill>
                  <a:schemeClr val="dk1"/>
                </a:solidFill>
              </a:rPr>
              <a:t> has the highest number of requests, followed by </a:t>
            </a:r>
            <a:r>
              <a:rPr lang="en" sz="1600" b="1">
                <a:solidFill>
                  <a:schemeClr val="dk1"/>
                </a:solidFill>
              </a:rPr>
              <a:t>Districts 3(Downtown) and 2(Allston-Brighton-Kenmore)</a:t>
            </a:r>
            <a:r>
              <a:rPr lang="en" sz="1600">
                <a:solidFill>
                  <a:schemeClr val="dk1"/>
                </a:solidFill>
              </a:rPr>
              <a:t>.</a:t>
            </a:r>
            <a:endParaRPr sz="1600">
              <a:solidFill>
                <a:schemeClr val="dk1"/>
              </a:solidFill>
            </a:endParaRPr>
          </a:p>
          <a:p>
            <a:pPr marL="457200" lvl="0" indent="-330200" algn="l" rtl="0">
              <a:spcBef>
                <a:spcPts val="0"/>
              </a:spcBef>
              <a:spcAft>
                <a:spcPts val="0"/>
              </a:spcAft>
              <a:buClr>
                <a:schemeClr val="dk1"/>
              </a:buClr>
              <a:buSzPts val="1600"/>
              <a:buChar char="●"/>
            </a:pPr>
            <a:r>
              <a:rPr lang="en" sz="1600">
                <a:solidFill>
                  <a:schemeClr val="dk1"/>
                </a:solidFill>
              </a:rPr>
              <a:t>This suggests that certain areas have a significantly higher need for syringe-related services.</a:t>
            </a:r>
            <a:endParaRPr sz="2300"/>
          </a:p>
        </p:txBody>
      </p:sp>
      <p:pic>
        <p:nvPicPr>
          <p:cNvPr id="76" name="Google Shape;76;p16"/>
          <p:cNvPicPr preferRelativeResize="0"/>
          <p:nvPr/>
        </p:nvPicPr>
        <p:blipFill>
          <a:blip r:embed="rId3">
            <a:alphaModFix/>
          </a:blip>
          <a:stretch>
            <a:fillRect/>
          </a:stretch>
        </p:blipFill>
        <p:spPr>
          <a:xfrm>
            <a:off x="5392225" y="1302688"/>
            <a:ext cx="3751775" cy="2385726"/>
          </a:xfrm>
          <a:prstGeom prst="rect">
            <a:avLst/>
          </a:prstGeom>
          <a:noFill/>
          <a:ln>
            <a:noFill/>
          </a:ln>
        </p:spPr>
      </p:pic>
      <p:sp>
        <p:nvSpPr>
          <p:cNvPr id="77" name="Google Shape;77;p16"/>
          <p:cNvSpPr txBox="1"/>
          <p:nvPr/>
        </p:nvSpPr>
        <p:spPr>
          <a:xfrm>
            <a:off x="248050" y="3829850"/>
            <a:ext cx="8711400" cy="117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Here, this insight can be used to:</a:t>
            </a:r>
            <a:endParaRPr>
              <a:solidFill>
                <a:schemeClr val="dk1"/>
              </a:solidFill>
            </a:endParaRPr>
          </a:p>
          <a:p>
            <a:pPr marL="457200" lvl="0" indent="-317500" algn="l" rtl="0">
              <a:spcBef>
                <a:spcPts val="0"/>
              </a:spcBef>
              <a:spcAft>
                <a:spcPts val="0"/>
              </a:spcAft>
              <a:buClr>
                <a:schemeClr val="dk1"/>
              </a:buClr>
              <a:buSzPts val="1400"/>
              <a:buAutoNum type="arabicPeriod"/>
            </a:pPr>
            <a:r>
              <a:rPr lang="en">
                <a:solidFill>
                  <a:schemeClr val="dk1"/>
                </a:solidFill>
              </a:rPr>
              <a:t>Deploy </a:t>
            </a:r>
            <a:r>
              <a:rPr lang="en" b="1">
                <a:solidFill>
                  <a:schemeClr val="dk1"/>
                </a:solidFill>
              </a:rPr>
              <a:t>mobile health units</a:t>
            </a:r>
            <a:r>
              <a:rPr lang="en">
                <a:solidFill>
                  <a:schemeClr val="dk1"/>
                </a:solidFill>
              </a:rPr>
              <a:t> </a:t>
            </a:r>
            <a:endParaRPr>
              <a:solidFill>
                <a:schemeClr val="dk1"/>
              </a:solidFill>
            </a:endParaRPr>
          </a:p>
          <a:p>
            <a:pPr marL="457200" lvl="0" indent="-317500" algn="l" rtl="0">
              <a:spcBef>
                <a:spcPts val="0"/>
              </a:spcBef>
              <a:spcAft>
                <a:spcPts val="0"/>
              </a:spcAft>
              <a:buClr>
                <a:schemeClr val="dk1"/>
              </a:buClr>
              <a:buSzPts val="1400"/>
              <a:buAutoNum type="arabicPeriod"/>
            </a:pPr>
            <a:r>
              <a:rPr lang="en" b="1">
                <a:solidFill>
                  <a:schemeClr val="dk1"/>
                </a:solidFill>
              </a:rPr>
              <a:t>Educate residents</a:t>
            </a:r>
            <a:r>
              <a:rPr lang="en">
                <a:solidFill>
                  <a:schemeClr val="dk1"/>
                </a:solidFill>
              </a:rPr>
              <a:t> on safe syringe disposal and harm reduction services</a:t>
            </a:r>
            <a:endParaRPr>
              <a:solidFill>
                <a:schemeClr val="dk1"/>
              </a:solidFill>
            </a:endParaRPr>
          </a:p>
          <a:p>
            <a:pPr marL="457200" lvl="0" indent="-317500" algn="l" rtl="0">
              <a:spcBef>
                <a:spcPts val="0"/>
              </a:spcBef>
              <a:spcAft>
                <a:spcPts val="0"/>
              </a:spcAft>
              <a:buClr>
                <a:schemeClr val="dk1"/>
              </a:buClr>
              <a:buSzPts val="1400"/>
              <a:buAutoNum type="arabicPeriod"/>
            </a:pPr>
            <a:r>
              <a:rPr lang="en">
                <a:solidFill>
                  <a:schemeClr val="dk1"/>
                </a:solidFill>
              </a:rPr>
              <a:t>Improve city services by </a:t>
            </a:r>
            <a:r>
              <a:rPr lang="en" b="1">
                <a:solidFill>
                  <a:schemeClr val="dk1"/>
                </a:solidFill>
              </a:rPr>
              <a:t>analyzing response delays</a:t>
            </a:r>
            <a:r>
              <a:rPr lang="en">
                <a:solidFill>
                  <a:schemeClr val="dk1"/>
                </a:solidFill>
              </a:rPr>
              <a:t> and </a:t>
            </a:r>
            <a:r>
              <a:rPr lang="en" b="1">
                <a:solidFill>
                  <a:schemeClr val="dk1"/>
                </a:solidFill>
              </a:rPr>
              <a:t>optimizing the dispatch of cleanup teams</a:t>
            </a:r>
            <a:r>
              <a:rPr lang="en">
                <a:solidFill>
                  <a:schemeClr val="dk1"/>
                </a:solidFill>
              </a:rPr>
              <a:t>.</a:t>
            </a:r>
            <a:endParaRPr>
              <a:solidFill>
                <a:schemeClr val="dk1"/>
              </a:solidFill>
            </a:endParaRPr>
          </a:p>
          <a:p>
            <a:pPr marL="0" lvl="0" indent="0" algn="l" rtl="0">
              <a:spcBef>
                <a:spcPts val="0"/>
              </a:spcBef>
              <a:spcAft>
                <a:spcPts val="0"/>
              </a:spcAft>
              <a:buNone/>
            </a:pP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Exploratory Data Analysis</a:t>
            </a:r>
            <a:endParaRPr/>
          </a:p>
        </p:txBody>
      </p:sp>
      <p:sp>
        <p:nvSpPr>
          <p:cNvPr id="83" name="Google Shape;83;p17"/>
          <p:cNvSpPr txBox="1">
            <a:spLocks noGrp="1"/>
          </p:cNvSpPr>
          <p:nvPr>
            <p:ph type="body" idx="1"/>
          </p:nvPr>
        </p:nvSpPr>
        <p:spPr>
          <a:xfrm>
            <a:off x="311700" y="1152475"/>
            <a:ext cx="4566600" cy="3416400"/>
          </a:xfrm>
          <a:prstGeom prst="rect">
            <a:avLst/>
          </a:prstGeom>
        </p:spPr>
        <p:txBody>
          <a:bodyPr spcFirstLastPara="1" wrap="square" lIns="91425" tIns="91425" rIns="91425" bIns="91425" anchor="t" anchorCtr="0">
            <a:normAutofit lnSpcReduction="10000"/>
          </a:bodyPr>
          <a:lstStyle/>
          <a:p>
            <a:pPr marL="0" lvl="0" indent="0" algn="l" rtl="0">
              <a:spcBef>
                <a:spcPts val="1200"/>
              </a:spcBef>
              <a:spcAft>
                <a:spcPts val="0"/>
              </a:spcAft>
              <a:buClr>
                <a:schemeClr val="dk1"/>
              </a:buClr>
              <a:buSzPts val="1100"/>
              <a:buFont typeface="Arial"/>
              <a:buNone/>
            </a:pPr>
            <a:r>
              <a:rPr lang="en" sz="1400" b="1">
                <a:solidFill>
                  <a:schemeClr val="dk1"/>
                </a:solidFill>
              </a:rPr>
              <a:t>Distribution of Response Time for Needle Reports</a:t>
            </a:r>
            <a:endParaRPr sz="1400" b="1">
              <a:solidFill>
                <a:schemeClr val="dk1"/>
              </a:solidFill>
            </a:endParaRPr>
          </a:p>
          <a:p>
            <a:pPr marL="457200" lvl="0" indent="-317500" algn="l" rtl="0">
              <a:spcBef>
                <a:spcPts val="1200"/>
              </a:spcBef>
              <a:spcAft>
                <a:spcPts val="0"/>
              </a:spcAft>
              <a:buClr>
                <a:schemeClr val="dk1"/>
              </a:buClr>
              <a:buSzPts val="1400"/>
              <a:buChar char="●"/>
            </a:pPr>
            <a:r>
              <a:rPr lang="en" sz="1400">
                <a:solidFill>
                  <a:schemeClr val="dk1"/>
                </a:solidFill>
              </a:rPr>
              <a:t>The histogram with a density curve shows the distribution of response times for needle pickup requests.</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The </a:t>
            </a:r>
            <a:r>
              <a:rPr lang="en" sz="1400" b="1">
                <a:solidFill>
                  <a:schemeClr val="dk1"/>
                </a:solidFill>
              </a:rPr>
              <a:t>majority of responses</a:t>
            </a:r>
            <a:r>
              <a:rPr lang="en" sz="1400">
                <a:solidFill>
                  <a:schemeClr val="dk1"/>
                </a:solidFill>
              </a:rPr>
              <a:t> occur within </a:t>
            </a:r>
            <a:r>
              <a:rPr lang="en" sz="1400" b="1">
                <a:solidFill>
                  <a:schemeClr val="dk1"/>
                </a:solidFill>
              </a:rPr>
              <a:t>the first two hours</a:t>
            </a:r>
            <a:r>
              <a:rPr lang="en" sz="1400">
                <a:solidFill>
                  <a:schemeClr val="dk1"/>
                </a:solidFill>
              </a:rPr>
              <a:t>, with a sharp decline as time increases.</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Some reports take longer, but these are less frequent.</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Most needle reports are addressed promptly, but some outliers suggest occasional delays that should be investigated.</a:t>
            </a:r>
            <a:endParaRPr sz="2100"/>
          </a:p>
        </p:txBody>
      </p:sp>
      <p:pic>
        <p:nvPicPr>
          <p:cNvPr id="84" name="Google Shape;84;p17"/>
          <p:cNvPicPr preferRelativeResize="0"/>
          <p:nvPr/>
        </p:nvPicPr>
        <p:blipFill>
          <a:blip r:embed="rId3">
            <a:alphaModFix/>
          </a:blip>
          <a:stretch>
            <a:fillRect/>
          </a:stretch>
        </p:blipFill>
        <p:spPr>
          <a:xfrm>
            <a:off x="4878300" y="1388501"/>
            <a:ext cx="4155050" cy="27044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Exploratory Data Analysis</a:t>
            </a:r>
            <a:endParaRPr/>
          </a:p>
        </p:txBody>
      </p:sp>
      <p:sp>
        <p:nvSpPr>
          <p:cNvPr id="90" name="Google Shape;90;p18"/>
          <p:cNvSpPr txBox="1">
            <a:spLocks noGrp="1"/>
          </p:cNvSpPr>
          <p:nvPr>
            <p:ph type="body" idx="1"/>
          </p:nvPr>
        </p:nvSpPr>
        <p:spPr>
          <a:xfrm>
            <a:off x="83100" y="1152475"/>
            <a:ext cx="50943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1400" b="1">
                <a:solidFill>
                  <a:schemeClr val="dk1"/>
                </a:solidFill>
              </a:rPr>
              <a:t>Top 10 Property Owners with the Most Syringe Requests</a:t>
            </a:r>
            <a:endParaRPr sz="1400" b="1">
              <a:solidFill>
                <a:schemeClr val="dk1"/>
              </a:solidFill>
            </a:endParaRPr>
          </a:p>
          <a:p>
            <a:pPr marL="457200" lvl="0" indent="-317500" algn="l" rtl="0">
              <a:spcBef>
                <a:spcPts val="1200"/>
              </a:spcBef>
              <a:spcAft>
                <a:spcPts val="0"/>
              </a:spcAft>
              <a:buClr>
                <a:schemeClr val="dk1"/>
              </a:buClr>
              <a:buSzPts val="1400"/>
              <a:buChar char="●"/>
            </a:pPr>
            <a:r>
              <a:rPr lang="en" sz="1400">
                <a:solidFill>
                  <a:schemeClr val="dk1"/>
                </a:solidFill>
              </a:rPr>
              <a:t>The bar chart highlights the property owners receiving the most syringe-related service requests.</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The </a:t>
            </a:r>
            <a:r>
              <a:rPr lang="en" sz="1400" b="1">
                <a:solidFill>
                  <a:schemeClr val="dk1"/>
                </a:solidFill>
              </a:rPr>
              <a:t>City of Boston</a:t>
            </a:r>
            <a:r>
              <a:rPr lang="en" sz="1400">
                <a:solidFill>
                  <a:schemeClr val="dk1"/>
                </a:solidFill>
              </a:rPr>
              <a:t> has the highest number of requests by a significant margin.</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Other notable property owners include </a:t>
            </a:r>
            <a:r>
              <a:rPr lang="en" sz="1400" b="1">
                <a:solidFill>
                  <a:schemeClr val="dk1"/>
                </a:solidFill>
              </a:rPr>
              <a:t>universities and public agencies</a:t>
            </a:r>
            <a:r>
              <a:rPr lang="en" sz="1400">
                <a:solidFill>
                  <a:schemeClr val="dk1"/>
                </a:solidFill>
              </a:rPr>
              <a:t>.</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This suggests that public authorities and large institutions play a crucial role in managing syringe disposal and harm reduction efforts. </a:t>
            </a:r>
            <a:endParaRPr sz="1400">
              <a:solidFill>
                <a:schemeClr val="dk1"/>
              </a:solidFill>
            </a:endParaRPr>
          </a:p>
        </p:txBody>
      </p:sp>
      <p:pic>
        <p:nvPicPr>
          <p:cNvPr id="91" name="Google Shape;91;p18"/>
          <p:cNvPicPr preferRelativeResize="0"/>
          <p:nvPr/>
        </p:nvPicPr>
        <p:blipFill>
          <a:blip r:embed="rId3">
            <a:alphaModFix/>
          </a:blip>
          <a:stretch>
            <a:fillRect/>
          </a:stretch>
        </p:blipFill>
        <p:spPr>
          <a:xfrm>
            <a:off x="5177400" y="1192230"/>
            <a:ext cx="3878224" cy="275903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Exploratory Data Analysis</a:t>
            </a:r>
            <a:endParaRPr/>
          </a:p>
        </p:txBody>
      </p:sp>
      <p:sp>
        <p:nvSpPr>
          <p:cNvPr id="97" name="Google Shape;97;p19"/>
          <p:cNvSpPr txBox="1">
            <a:spLocks noGrp="1"/>
          </p:cNvSpPr>
          <p:nvPr>
            <p:ph type="body" idx="1"/>
          </p:nvPr>
        </p:nvSpPr>
        <p:spPr>
          <a:xfrm>
            <a:off x="235500" y="1000075"/>
            <a:ext cx="5054700" cy="34164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 sz="1400" b="1">
                <a:solidFill>
                  <a:schemeClr val="dk1"/>
                </a:solidFill>
              </a:rPr>
              <a:t>Syringe Requests, Schools, and Open Spaces in Boston</a:t>
            </a:r>
            <a:endParaRPr sz="1400" b="1">
              <a:solidFill>
                <a:schemeClr val="dk1"/>
              </a:solidFill>
            </a:endParaRPr>
          </a:p>
          <a:p>
            <a:pPr marL="457200" lvl="0" indent="-317500" algn="l" rtl="0">
              <a:spcBef>
                <a:spcPts val="1200"/>
              </a:spcBef>
              <a:spcAft>
                <a:spcPts val="0"/>
              </a:spcAft>
              <a:buClr>
                <a:schemeClr val="dk1"/>
              </a:buClr>
              <a:buSzPts val="1400"/>
              <a:buChar char="●"/>
            </a:pPr>
            <a:r>
              <a:rPr lang="en" sz="1400">
                <a:solidFill>
                  <a:schemeClr val="dk1"/>
                </a:solidFill>
              </a:rPr>
              <a:t>The map overlays </a:t>
            </a:r>
            <a:r>
              <a:rPr lang="en" sz="1400" b="1">
                <a:solidFill>
                  <a:schemeClr val="dk1"/>
                </a:solidFill>
              </a:rPr>
              <a:t>syringe request locations (red dots)</a:t>
            </a:r>
            <a:r>
              <a:rPr lang="en" sz="1400">
                <a:solidFill>
                  <a:schemeClr val="dk1"/>
                </a:solidFill>
              </a:rPr>
              <a:t> with the locations of </a:t>
            </a:r>
            <a:r>
              <a:rPr lang="en" sz="1400" b="1">
                <a:solidFill>
                  <a:schemeClr val="dk1"/>
                </a:solidFill>
              </a:rPr>
              <a:t>public schools (blue), non-public schools (dark green), and open spaces (green)</a:t>
            </a:r>
            <a:r>
              <a:rPr lang="en" sz="1400">
                <a:solidFill>
                  <a:schemeClr val="dk1"/>
                </a:solidFill>
              </a:rPr>
              <a:t>.</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There is a </a:t>
            </a:r>
            <a:r>
              <a:rPr lang="en" sz="1400" b="1">
                <a:solidFill>
                  <a:schemeClr val="dk1"/>
                </a:solidFill>
              </a:rPr>
              <a:t>high concentration of syringe requests in specific areas</a:t>
            </a:r>
            <a:r>
              <a:rPr lang="en" sz="1400">
                <a:solidFill>
                  <a:schemeClr val="dk1"/>
                </a:solidFill>
              </a:rPr>
              <a:t>, just a few of  them are </a:t>
            </a:r>
            <a:r>
              <a:rPr lang="en" sz="1400" b="1">
                <a:solidFill>
                  <a:schemeClr val="dk1"/>
                </a:solidFill>
              </a:rPr>
              <a:t>near schools and public spaces</a:t>
            </a:r>
            <a:r>
              <a:rPr lang="en" sz="1400">
                <a:solidFill>
                  <a:schemeClr val="dk1"/>
                </a:solidFill>
              </a:rPr>
              <a:t>.</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This suggests that syringe disposal issues are localized and not directly impacting educational institutions or public areas.</a:t>
            </a:r>
            <a:endParaRPr sz="1400">
              <a:solidFill>
                <a:schemeClr val="dk1"/>
              </a:solidFill>
            </a:endParaRPr>
          </a:p>
        </p:txBody>
      </p:sp>
      <p:pic>
        <p:nvPicPr>
          <p:cNvPr id="98" name="Google Shape;98;p19"/>
          <p:cNvPicPr preferRelativeResize="0"/>
          <p:nvPr/>
        </p:nvPicPr>
        <p:blipFill>
          <a:blip r:embed="rId3">
            <a:alphaModFix/>
          </a:blip>
          <a:stretch>
            <a:fillRect/>
          </a:stretch>
        </p:blipFill>
        <p:spPr>
          <a:xfrm>
            <a:off x="5366327" y="488075"/>
            <a:ext cx="3716100" cy="42441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Predictive Models</a:t>
            </a:r>
            <a:endParaRPr/>
          </a:p>
        </p:txBody>
      </p:sp>
      <p:sp>
        <p:nvSpPr>
          <p:cNvPr id="104" name="Google Shape;104;p20"/>
          <p:cNvSpPr txBox="1">
            <a:spLocks noGrp="1"/>
          </p:cNvSpPr>
          <p:nvPr>
            <p:ph type="body" idx="1"/>
          </p:nvPr>
        </p:nvSpPr>
        <p:spPr>
          <a:xfrm>
            <a:off x="311700" y="1017725"/>
            <a:ext cx="8520600" cy="39870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 sz="1308">
                <a:solidFill>
                  <a:schemeClr val="dk1"/>
                </a:solidFill>
              </a:rPr>
              <a:t>Utilized advanced analytics techniques to identify high-risk neighborhoods and predict future trends in service requests, enabling targeted interventions.</a:t>
            </a:r>
            <a:endParaRPr/>
          </a:p>
          <a:p>
            <a:pPr marL="0" lvl="0" indent="0" algn="just" rtl="0">
              <a:spcBef>
                <a:spcPts val="1200"/>
              </a:spcBef>
              <a:spcAft>
                <a:spcPts val="0"/>
              </a:spcAft>
              <a:buClr>
                <a:schemeClr val="dk1"/>
              </a:buClr>
              <a:buSzPts val="1100"/>
              <a:buFont typeface="Arial"/>
              <a:buNone/>
            </a:pPr>
            <a:r>
              <a:rPr lang="en" sz="1308" b="1">
                <a:solidFill>
                  <a:schemeClr val="dk1"/>
                </a:solidFill>
              </a:rPr>
              <a:t>K-Means Clustering</a:t>
            </a:r>
            <a:endParaRPr sz="1308" b="1">
              <a:solidFill>
                <a:schemeClr val="dk1"/>
              </a:solidFill>
            </a:endParaRPr>
          </a:p>
          <a:p>
            <a:pPr marL="457200" lvl="0" indent="-311665" algn="just" rtl="0">
              <a:spcBef>
                <a:spcPts val="1200"/>
              </a:spcBef>
              <a:spcAft>
                <a:spcPts val="0"/>
              </a:spcAft>
              <a:buClr>
                <a:schemeClr val="dk1"/>
              </a:buClr>
              <a:buSzPts val="1308"/>
              <a:buChar char="●"/>
            </a:pPr>
            <a:r>
              <a:rPr lang="en" sz="1308" b="1">
                <a:solidFill>
                  <a:schemeClr val="dk1"/>
                </a:solidFill>
              </a:rPr>
              <a:t>Purpose</a:t>
            </a:r>
            <a:r>
              <a:rPr lang="en" sz="1308">
                <a:solidFill>
                  <a:schemeClr val="dk1"/>
                </a:solidFill>
              </a:rPr>
              <a:t>: Identify distinct clusters of neighborhoods based on risk factors such as crime rates, emergency calls, and socio-economic indicators.</a:t>
            </a:r>
            <a:endParaRPr sz="1308">
              <a:solidFill>
                <a:schemeClr val="dk1"/>
              </a:solidFill>
            </a:endParaRPr>
          </a:p>
          <a:p>
            <a:pPr marL="457200" lvl="0" indent="-311665" algn="just" rtl="0">
              <a:spcBef>
                <a:spcPts val="0"/>
              </a:spcBef>
              <a:spcAft>
                <a:spcPts val="0"/>
              </a:spcAft>
              <a:buClr>
                <a:schemeClr val="dk1"/>
              </a:buClr>
              <a:buSzPts val="1308"/>
              <a:buChar char="●"/>
            </a:pPr>
            <a:r>
              <a:rPr lang="en" sz="1308" b="1">
                <a:solidFill>
                  <a:schemeClr val="dk1"/>
                </a:solidFill>
              </a:rPr>
              <a:t>Process</a:t>
            </a:r>
            <a:r>
              <a:rPr lang="en" sz="1308">
                <a:solidFill>
                  <a:schemeClr val="dk1"/>
                </a:solidFill>
              </a:rPr>
              <a:t>: Apply the K-Means clustering algorithm to segment neighborhoods into groups. This helps in understanding different risk profiles and tailoring safety measures appropriately.</a:t>
            </a:r>
            <a:endParaRPr sz="1308">
              <a:solidFill>
                <a:schemeClr val="dk1"/>
              </a:solidFill>
            </a:endParaRPr>
          </a:p>
          <a:p>
            <a:pPr marL="0" lvl="0" indent="0" algn="just" rtl="0">
              <a:spcBef>
                <a:spcPts val="1200"/>
              </a:spcBef>
              <a:spcAft>
                <a:spcPts val="0"/>
              </a:spcAft>
              <a:buClr>
                <a:schemeClr val="dk1"/>
              </a:buClr>
              <a:buSzPts val="1100"/>
              <a:buFont typeface="Arial"/>
              <a:buNone/>
            </a:pPr>
            <a:r>
              <a:rPr lang="en" sz="1308" b="1">
                <a:solidFill>
                  <a:schemeClr val="dk1"/>
                </a:solidFill>
              </a:rPr>
              <a:t>SARIMA Time-Series Forecasting</a:t>
            </a:r>
            <a:endParaRPr sz="1308" b="1">
              <a:solidFill>
                <a:schemeClr val="dk1"/>
              </a:solidFill>
            </a:endParaRPr>
          </a:p>
          <a:p>
            <a:pPr marL="457200" lvl="0" indent="-311665" algn="just" rtl="0">
              <a:spcBef>
                <a:spcPts val="1200"/>
              </a:spcBef>
              <a:spcAft>
                <a:spcPts val="0"/>
              </a:spcAft>
              <a:buClr>
                <a:schemeClr val="dk1"/>
              </a:buClr>
              <a:buSzPts val="1308"/>
              <a:buChar char="●"/>
            </a:pPr>
            <a:r>
              <a:rPr lang="en" sz="1308" b="1">
                <a:solidFill>
                  <a:schemeClr val="dk1"/>
                </a:solidFill>
              </a:rPr>
              <a:t>Purpose</a:t>
            </a:r>
            <a:r>
              <a:rPr lang="en" sz="1308">
                <a:solidFill>
                  <a:schemeClr val="dk1"/>
                </a:solidFill>
              </a:rPr>
              <a:t>: Predict future trends in community service requests, such as public safety or maintenance needs.</a:t>
            </a:r>
            <a:endParaRPr sz="1308">
              <a:solidFill>
                <a:schemeClr val="dk1"/>
              </a:solidFill>
            </a:endParaRPr>
          </a:p>
          <a:p>
            <a:pPr marL="457200" lvl="0" indent="-311665" algn="just" rtl="0">
              <a:spcBef>
                <a:spcPts val="0"/>
              </a:spcBef>
              <a:spcAft>
                <a:spcPts val="0"/>
              </a:spcAft>
              <a:buClr>
                <a:schemeClr val="dk1"/>
              </a:buClr>
              <a:buSzPts val="1308"/>
              <a:buChar char="●"/>
            </a:pPr>
            <a:r>
              <a:rPr lang="en" sz="1308" b="1">
                <a:solidFill>
                  <a:schemeClr val="dk1"/>
                </a:solidFill>
              </a:rPr>
              <a:t>Process</a:t>
            </a:r>
            <a:r>
              <a:rPr lang="en" sz="1308">
                <a:solidFill>
                  <a:schemeClr val="dk1"/>
                </a:solidFill>
              </a:rPr>
              <a:t>: Develop a SARIMA (Seasonal AutoRegressive Integrated Moving Average) model to forecast the volume of requests. This model considers both seasonal variations and underlying trends, providing a robust prediction mechanism.</a:t>
            </a:r>
            <a:endParaRPr sz="1308">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1"/>
          <p:cNvSpPr txBox="1">
            <a:spLocks noGrp="1"/>
          </p:cNvSpPr>
          <p:nvPr>
            <p:ph type="title"/>
          </p:nvPr>
        </p:nvSpPr>
        <p:spPr>
          <a:xfrm>
            <a:off x="311700" y="2042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K-Means Clustering</a:t>
            </a:r>
            <a:endParaRPr/>
          </a:p>
        </p:txBody>
      </p:sp>
      <p:sp>
        <p:nvSpPr>
          <p:cNvPr id="110" name="Google Shape;110;p21"/>
          <p:cNvSpPr txBox="1">
            <a:spLocks noGrp="1"/>
          </p:cNvSpPr>
          <p:nvPr>
            <p:ph type="body" idx="1"/>
          </p:nvPr>
        </p:nvSpPr>
        <p:spPr>
          <a:xfrm>
            <a:off x="0" y="776975"/>
            <a:ext cx="4349400" cy="3990900"/>
          </a:xfrm>
          <a:prstGeom prst="rect">
            <a:avLst/>
          </a:prstGeom>
        </p:spPr>
        <p:txBody>
          <a:bodyPr spcFirstLastPara="1" wrap="square" lIns="91425" tIns="91425" rIns="91425" bIns="91425" anchor="t" anchorCtr="0">
            <a:noAutofit/>
          </a:bodyPr>
          <a:lstStyle/>
          <a:p>
            <a:pPr marL="457200" marR="0" lvl="0" indent="-311827" algn="just" rtl="0">
              <a:lnSpc>
                <a:spcPct val="115000"/>
              </a:lnSpc>
              <a:spcBef>
                <a:spcPts val="1200"/>
              </a:spcBef>
              <a:spcAft>
                <a:spcPts val="0"/>
              </a:spcAft>
              <a:buClr>
                <a:schemeClr val="dk1"/>
              </a:buClr>
              <a:buSzPts val="1311"/>
              <a:buChar char="●"/>
            </a:pPr>
            <a:r>
              <a:rPr lang="en" sz="1310">
                <a:solidFill>
                  <a:schemeClr val="dk1"/>
                </a:solidFill>
              </a:rPr>
              <a:t>This map uses K-Means machine learning to segment syringe disposal requests into five clusters, with each color indicating a different group of similar locations.</a:t>
            </a:r>
            <a:endParaRPr sz="1310">
              <a:solidFill>
                <a:schemeClr val="dk1"/>
              </a:solidFill>
            </a:endParaRPr>
          </a:p>
          <a:p>
            <a:pPr marL="457200" marR="0" lvl="0" indent="-311827" algn="just" rtl="0">
              <a:lnSpc>
                <a:spcPct val="115000"/>
              </a:lnSpc>
              <a:spcBef>
                <a:spcPts val="0"/>
              </a:spcBef>
              <a:spcAft>
                <a:spcPts val="0"/>
              </a:spcAft>
              <a:buClr>
                <a:schemeClr val="dk1"/>
              </a:buClr>
              <a:buSzPts val="1311"/>
              <a:buChar char="●"/>
            </a:pPr>
            <a:r>
              <a:rPr lang="en" sz="1310">
                <a:solidFill>
                  <a:schemeClr val="dk1"/>
                </a:solidFill>
              </a:rPr>
              <a:t>Clusters show varied concentrations: dense clusters indicate hotspots, border zones suggest transitional areas needing more services, and distant clusters highlight isolated cases for targeted interventions.</a:t>
            </a:r>
            <a:endParaRPr sz="1310">
              <a:solidFill>
                <a:schemeClr val="dk1"/>
              </a:solidFill>
            </a:endParaRPr>
          </a:p>
          <a:p>
            <a:pPr marL="457200" marR="0" lvl="0" indent="-311827" algn="just" rtl="0">
              <a:lnSpc>
                <a:spcPct val="115000"/>
              </a:lnSpc>
              <a:spcBef>
                <a:spcPts val="0"/>
              </a:spcBef>
              <a:spcAft>
                <a:spcPts val="0"/>
              </a:spcAft>
              <a:buClr>
                <a:schemeClr val="dk1"/>
              </a:buClr>
              <a:buSzPts val="1311"/>
              <a:buChar char="●"/>
            </a:pPr>
            <a:r>
              <a:rPr lang="en" sz="1310">
                <a:solidFill>
                  <a:schemeClr val="dk1"/>
                </a:solidFill>
              </a:rPr>
              <a:t>This analysis aids in resource allocation by prioritizing high-need zones for syringe disposal, informing policy on bin placement and outreach, and guiding public health strategies for effective harm reduction.</a:t>
            </a:r>
            <a:endParaRPr sz="1310">
              <a:solidFill>
                <a:schemeClr val="dk1"/>
              </a:solidFill>
            </a:endParaRPr>
          </a:p>
          <a:p>
            <a:pPr marL="457200" lvl="0" indent="-311827" algn="just" rtl="0">
              <a:spcBef>
                <a:spcPts val="0"/>
              </a:spcBef>
              <a:spcAft>
                <a:spcPts val="0"/>
              </a:spcAft>
              <a:buClr>
                <a:schemeClr val="dk1"/>
              </a:buClr>
              <a:buSzPts val="1311"/>
              <a:buChar char="●"/>
            </a:pPr>
            <a:r>
              <a:rPr lang="en" sz="1310">
                <a:solidFill>
                  <a:schemeClr val="dk1"/>
                </a:solidFill>
              </a:rPr>
              <a:t>Next steps include increasing disposal stations in high-density areas, monitoring cluster trends for shifts or growth, and leveraging this analysis for public health planning and harm reduction efforts.</a:t>
            </a:r>
            <a:endParaRPr sz="1310">
              <a:solidFill>
                <a:schemeClr val="dk1"/>
              </a:solidFill>
            </a:endParaRPr>
          </a:p>
          <a:p>
            <a:pPr marL="457200" marR="0" lvl="0" indent="0" algn="just" rtl="0">
              <a:lnSpc>
                <a:spcPct val="115000"/>
              </a:lnSpc>
              <a:spcBef>
                <a:spcPts val="1200"/>
              </a:spcBef>
              <a:spcAft>
                <a:spcPts val="1200"/>
              </a:spcAft>
              <a:buSzPts val="935"/>
              <a:buNone/>
            </a:pPr>
            <a:endParaRPr sz="1026">
              <a:solidFill>
                <a:schemeClr val="dk1"/>
              </a:solidFill>
            </a:endParaRPr>
          </a:p>
        </p:txBody>
      </p:sp>
      <p:pic>
        <p:nvPicPr>
          <p:cNvPr id="111" name="Google Shape;111;p21"/>
          <p:cNvPicPr preferRelativeResize="0"/>
          <p:nvPr/>
        </p:nvPicPr>
        <p:blipFill>
          <a:blip r:embed="rId3">
            <a:alphaModFix/>
          </a:blip>
          <a:stretch>
            <a:fillRect/>
          </a:stretch>
        </p:blipFill>
        <p:spPr>
          <a:xfrm>
            <a:off x="4462751" y="1272175"/>
            <a:ext cx="4500552" cy="31769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SARIMA Time-Series Forecasting</a:t>
            </a:r>
            <a:endParaRPr/>
          </a:p>
        </p:txBody>
      </p:sp>
      <p:sp>
        <p:nvSpPr>
          <p:cNvPr id="117" name="Google Shape;117;p22"/>
          <p:cNvSpPr txBox="1">
            <a:spLocks noGrp="1"/>
          </p:cNvSpPr>
          <p:nvPr>
            <p:ph type="body" idx="1"/>
          </p:nvPr>
        </p:nvSpPr>
        <p:spPr>
          <a:xfrm>
            <a:off x="0" y="1152475"/>
            <a:ext cx="4324200" cy="3990900"/>
          </a:xfrm>
          <a:prstGeom prst="rect">
            <a:avLst/>
          </a:prstGeom>
        </p:spPr>
        <p:txBody>
          <a:bodyPr spcFirstLastPara="1" wrap="square" lIns="91425" tIns="91425" rIns="91425" bIns="91425" anchor="t" anchorCtr="0">
            <a:normAutofit fontScale="92500"/>
          </a:bodyPr>
          <a:lstStyle/>
          <a:p>
            <a:pPr marL="457200" marR="0" lvl="0" indent="-312821" algn="just" rtl="0">
              <a:lnSpc>
                <a:spcPct val="115000"/>
              </a:lnSpc>
              <a:spcBef>
                <a:spcPts val="1200"/>
              </a:spcBef>
              <a:spcAft>
                <a:spcPts val="0"/>
              </a:spcAft>
              <a:buClr>
                <a:schemeClr val="dk1"/>
              </a:buClr>
              <a:buSzPct val="100000"/>
              <a:buChar char="●"/>
            </a:pPr>
            <a:r>
              <a:rPr lang="en" sz="1433">
                <a:solidFill>
                  <a:schemeClr val="dk1"/>
                </a:solidFill>
              </a:rPr>
              <a:t>The blue line shows actual monthly syringe requests, while the red dashed line forecasts future requests using SARIMA modeling.</a:t>
            </a:r>
            <a:endParaRPr sz="1433">
              <a:solidFill>
                <a:schemeClr val="dk1"/>
              </a:solidFill>
            </a:endParaRPr>
          </a:p>
          <a:p>
            <a:pPr marL="457200" marR="0" lvl="0" indent="-312821" algn="just" rtl="0">
              <a:lnSpc>
                <a:spcPct val="115000"/>
              </a:lnSpc>
              <a:spcBef>
                <a:spcPts val="0"/>
              </a:spcBef>
              <a:spcAft>
                <a:spcPts val="0"/>
              </a:spcAft>
              <a:buClr>
                <a:schemeClr val="dk1"/>
              </a:buClr>
              <a:buSzPct val="100000"/>
              <a:buChar char="●"/>
            </a:pPr>
            <a:r>
              <a:rPr lang="en" sz="1433">
                <a:solidFill>
                  <a:schemeClr val="dk1"/>
                </a:solidFill>
              </a:rPr>
              <a:t>Historical data reveals seasonal trends in syringe requests, with forecasts predicting increased disposal needs and sharp growth in demand for future months.</a:t>
            </a:r>
            <a:endParaRPr sz="1433">
              <a:solidFill>
                <a:schemeClr val="dk1"/>
              </a:solidFill>
            </a:endParaRPr>
          </a:p>
          <a:p>
            <a:pPr marL="457200" marR="0" lvl="0" indent="-312821" algn="just" rtl="0">
              <a:lnSpc>
                <a:spcPct val="115000"/>
              </a:lnSpc>
              <a:spcBef>
                <a:spcPts val="0"/>
              </a:spcBef>
              <a:spcAft>
                <a:spcPts val="0"/>
              </a:spcAft>
              <a:buClr>
                <a:schemeClr val="dk1"/>
              </a:buClr>
              <a:buSzPct val="100000"/>
              <a:buChar char="●"/>
            </a:pPr>
            <a:r>
              <a:rPr lang="en" sz="1433">
                <a:solidFill>
                  <a:schemeClr val="dk1"/>
                </a:solidFill>
              </a:rPr>
              <a:t>This analysis enables proactive planning, optimal resource allocation, and policy impact assessment, helping city officials prepare for and respond to changing syringe disposal needs.</a:t>
            </a:r>
            <a:endParaRPr sz="1433">
              <a:solidFill>
                <a:schemeClr val="dk1"/>
              </a:solidFill>
            </a:endParaRPr>
          </a:p>
          <a:p>
            <a:pPr marL="457200" marR="0" lvl="0" indent="-312821" algn="just" rtl="0">
              <a:lnSpc>
                <a:spcPct val="115000"/>
              </a:lnSpc>
              <a:spcBef>
                <a:spcPts val="0"/>
              </a:spcBef>
              <a:spcAft>
                <a:spcPts val="0"/>
              </a:spcAft>
              <a:buClr>
                <a:schemeClr val="dk1"/>
              </a:buClr>
              <a:buSzPct val="100000"/>
              <a:buChar char="●"/>
            </a:pPr>
            <a:r>
              <a:rPr lang="en" sz="1433">
                <a:solidFill>
                  <a:schemeClr val="dk1"/>
                </a:solidFill>
              </a:rPr>
              <a:t>Next steps include scaling up disposal services to meet rising demand, monitoring the impact of policy changes on trends, and using forecasts to shape long-term harm reduction strategies.</a:t>
            </a:r>
            <a:endParaRPr sz="1000"/>
          </a:p>
          <a:p>
            <a:pPr marL="457200" lvl="0" indent="0" algn="just" rtl="0">
              <a:spcBef>
                <a:spcPts val="1200"/>
              </a:spcBef>
              <a:spcAft>
                <a:spcPts val="0"/>
              </a:spcAft>
              <a:buNone/>
            </a:pPr>
            <a:endParaRPr sz="1000"/>
          </a:p>
        </p:txBody>
      </p:sp>
      <p:pic>
        <p:nvPicPr>
          <p:cNvPr id="118" name="Google Shape;118;p22"/>
          <p:cNvPicPr preferRelativeResize="0"/>
          <p:nvPr/>
        </p:nvPicPr>
        <p:blipFill>
          <a:blip r:embed="rId3">
            <a:alphaModFix/>
          </a:blip>
          <a:stretch>
            <a:fillRect/>
          </a:stretch>
        </p:blipFill>
        <p:spPr>
          <a:xfrm>
            <a:off x="4476600" y="1170125"/>
            <a:ext cx="4515000" cy="34060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Next Steps</a:t>
            </a:r>
            <a:endParaRPr/>
          </a:p>
        </p:txBody>
      </p:sp>
      <p:sp>
        <p:nvSpPr>
          <p:cNvPr id="124" name="Google Shape;124;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400" b="1">
                <a:solidFill>
                  <a:schemeClr val="dk1"/>
                </a:solidFill>
                <a:latin typeface="Times New Roman"/>
                <a:ea typeface="Times New Roman"/>
                <a:cs typeface="Times New Roman"/>
                <a:sym typeface="Times New Roman"/>
              </a:rPr>
              <a:t>Enhancing Data Quality and Predictive Modeling:</a:t>
            </a:r>
            <a:endParaRPr sz="1400" b="1">
              <a:solidFill>
                <a:schemeClr val="dk1"/>
              </a:solidFill>
              <a:latin typeface="Times New Roman"/>
              <a:ea typeface="Times New Roman"/>
              <a:cs typeface="Times New Roman"/>
              <a:sym typeface="Times New Roman"/>
            </a:endParaRPr>
          </a:p>
          <a:p>
            <a:pPr marL="457200" lvl="0" indent="-317500" algn="l" rtl="0">
              <a:spcBef>
                <a:spcPts val="120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Investigate cases marked as “open” despite having closure photos uploaded.</a:t>
            </a:r>
            <a:endParaRPr sz="1400">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Compare timestamps on closure photos with reported resolution times.</a:t>
            </a:r>
            <a:endParaRPr sz="1400">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Fine tune Predictive Models to get more accurate results.</a:t>
            </a:r>
            <a:endParaRPr sz="1400">
              <a:solidFill>
                <a:schemeClr val="dk1"/>
              </a:solidFill>
              <a:latin typeface="Times New Roman"/>
              <a:ea typeface="Times New Roman"/>
              <a:cs typeface="Times New Roman"/>
              <a:sym typeface="Times New Roman"/>
            </a:endParaRPr>
          </a:p>
          <a:p>
            <a:pPr marL="0" lvl="0" indent="0" algn="l" rtl="0">
              <a:spcBef>
                <a:spcPts val="1200"/>
              </a:spcBef>
              <a:spcAft>
                <a:spcPts val="0"/>
              </a:spcAft>
              <a:buClr>
                <a:schemeClr val="dk1"/>
              </a:buClr>
              <a:buSzPts val="1100"/>
              <a:buFont typeface="Arial"/>
              <a:buNone/>
            </a:pPr>
            <a:r>
              <a:rPr lang="en" sz="1400" b="1">
                <a:solidFill>
                  <a:schemeClr val="dk1"/>
                </a:solidFill>
                <a:latin typeface="Times New Roman"/>
                <a:ea typeface="Times New Roman"/>
                <a:cs typeface="Times New Roman"/>
                <a:sym typeface="Times New Roman"/>
              </a:rPr>
              <a:t>Developing Interactive Visualizations:</a:t>
            </a:r>
            <a:endParaRPr sz="1400" b="1">
              <a:solidFill>
                <a:schemeClr val="dk1"/>
              </a:solidFill>
              <a:latin typeface="Times New Roman"/>
              <a:ea typeface="Times New Roman"/>
              <a:cs typeface="Times New Roman"/>
              <a:sym typeface="Times New Roman"/>
            </a:endParaRPr>
          </a:p>
          <a:p>
            <a:pPr marL="457200" lvl="0" indent="-317500" algn="l" rtl="0">
              <a:spcBef>
                <a:spcPts val="1200"/>
              </a:spcBef>
              <a:spcAft>
                <a:spcPts val="0"/>
              </a:spcAft>
              <a:buClr>
                <a:schemeClr val="dk1"/>
              </a:buClr>
              <a:buSzPts val="1400"/>
              <a:buChar char="●"/>
            </a:pPr>
            <a:r>
              <a:rPr lang="en" sz="1400">
                <a:solidFill>
                  <a:schemeClr val="dk1"/>
                </a:solidFill>
                <a:latin typeface="Times New Roman"/>
                <a:ea typeface="Times New Roman"/>
                <a:cs typeface="Times New Roman"/>
                <a:sym typeface="Times New Roman"/>
              </a:rPr>
              <a:t>Build a</a:t>
            </a:r>
            <a:r>
              <a:rPr lang="en" sz="1400" b="1">
                <a:solidFill>
                  <a:schemeClr val="dk1"/>
                </a:solidFill>
                <a:latin typeface="Times New Roman"/>
                <a:ea typeface="Times New Roman"/>
                <a:cs typeface="Times New Roman"/>
                <a:sym typeface="Times New Roman"/>
              </a:rPr>
              <a:t> </a:t>
            </a:r>
            <a:r>
              <a:rPr lang="en" sz="1400">
                <a:solidFill>
                  <a:schemeClr val="dk1"/>
                </a:solidFill>
                <a:latin typeface="Times New Roman"/>
                <a:ea typeface="Times New Roman"/>
                <a:cs typeface="Times New Roman"/>
                <a:sym typeface="Times New Roman"/>
              </a:rPr>
              <a:t>Power BI dashboard</a:t>
            </a:r>
            <a:r>
              <a:rPr lang="en" sz="1400" b="1">
                <a:solidFill>
                  <a:schemeClr val="dk1"/>
                </a:solidFill>
                <a:latin typeface="Times New Roman"/>
                <a:ea typeface="Times New Roman"/>
                <a:cs typeface="Times New Roman"/>
                <a:sym typeface="Times New Roman"/>
              </a:rPr>
              <a:t> </a:t>
            </a:r>
            <a:r>
              <a:rPr lang="en" sz="1400">
                <a:solidFill>
                  <a:schemeClr val="dk1"/>
                </a:solidFill>
                <a:latin typeface="Times New Roman"/>
                <a:ea typeface="Times New Roman"/>
                <a:cs typeface="Times New Roman"/>
                <a:sym typeface="Times New Roman"/>
              </a:rPr>
              <a:t>for real-time monitoring and decision-making.</a:t>
            </a:r>
            <a:endParaRPr sz="1400">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Enable policymakers to track syringe disposal trends dynamically.</a:t>
            </a:r>
            <a:endParaRPr sz="1400">
              <a:solidFill>
                <a:schemeClr val="dk1"/>
              </a:solidFill>
              <a:latin typeface="Times New Roman"/>
              <a:ea typeface="Times New Roman"/>
              <a:cs typeface="Times New Roman"/>
              <a:sym typeface="Times New Roman"/>
            </a:endParaRPr>
          </a:p>
          <a:p>
            <a:pPr marL="0" lvl="0" indent="0" algn="l" rtl="0">
              <a:spcBef>
                <a:spcPts val="1200"/>
              </a:spcBef>
              <a:spcAft>
                <a:spcPts val="1200"/>
              </a:spcAft>
              <a:buNone/>
            </a:pP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Conclusion</a:t>
            </a:r>
            <a:endParaRPr/>
          </a:p>
        </p:txBody>
      </p:sp>
      <p:sp>
        <p:nvSpPr>
          <p:cNvPr id="130" name="Google Shape;130;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400" b="1">
                <a:solidFill>
                  <a:schemeClr val="dk1"/>
                </a:solidFill>
                <a:latin typeface="Times New Roman"/>
                <a:ea typeface="Times New Roman"/>
                <a:cs typeface="Times New Roman"/>
                <a:sym typeface="Times New Roman"/>
              </a:rPr>
              <a:t>Key Findings:</a:t>
            </a:r>
            <a:endParaRPr sz="1400" b="1">
              <a:solidFill>
                <a:schemeClr val="dk1"/>
              </a:solidFill>
              <a:latin typeface="Times New Roman"/>
              <a:ea typeface="Times New Roman"/>
              <a:cs typeface="Times New Roman"/>
              <a:sym typeface="Times New Roman"/>
            </a:endParaRPr>
          </a:p>
          <a:p>
            <a:pPr marL="457200" lvl="0" indent="-317500" algn="l" rtl="0">
              <a:spcBef>
                <a:spcPts val="120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Syringe requests peak seasonally, particularly in high-risk areas.</a:t>
            </a:r>
            <a:endParaRPr sz="1400">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District 7 accounts for the highest number of requests (~33%).</a:t>
            </a:r>
            <a:endParaRPr sz="1400">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Strong correlation between syringe requests and older building clusters.</a:t>
            </a:r>
            <a:endParaRPr sz="1400">
              <a:solidFill>
                <a:schemeClr val="dk1"/>
              </a:solidFill>
              <a:latin typeface="Times New Roman"/>
              <a:ea typeface="Times New Roman"/>
              <a:cs typeface="Times New Roman"/>
              <a:sym typeface="Times New Roman"/>
            </a:endParaRPr>
          </a:p>
          <a:p>
            <a:pPr marL="0" lvl="0" indent="0" algn="l" rtl="0">
              <a:spcBef>
                <a:spcPts val="1200"/>
              </a:spcBef>
              <a:spcAft>
                <a:spcPts val="0"/>
              </a:spcAft>
              <a:buClr>
                <a:schemeClr val="dk1"/>
              </a:buClr>
              <a:buSzPts val="1100"/>
              <a:buFont typeface="Arial"/>
              <a:buNone/>
            </a:pPr>
            <a:r>
              <a:rPr lang="en" sz="1400" b="1">
                <a:solidFill>
                  <a:schemeClr val="dk1"/>
                </a:solidFill>
                <a:latin typeface="Times New Roman"/>
                <a:ea typeface="Times New Roman"/>
                <a:cs typeface="Times New Roman"/>
                <a:sym typeface="Times New Roman"/>
              </a:rPr>
              <a:t>Impact of Predictive Analysis:</a:t>
            </a:r>
            <a:endParaRPr sz="1400" b="1">
              <a:solidFill>
                <a:schemeClr val="dk1"/>
              </a:solidFill>
              <a:latin typeface="Times New Roman"/>
              <a:ea typeface="Times New Roman"/>
              <a:cs typeface="Times New Roman"/>
              <a:sym typeface="Times New Roman"/>
            </a:endParaRPr>
          </a:p>
          <a:p>
            <a:pPr marL="457200" lvl="0" indent="-317500" algn="l" rtl="0">
              <a:spcBef>
                <a:spcPts val="120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K-Means clustering identifies high-risk neighborhoods for targeted interventions.</a:t>
            </a:r>
            <a:endParaRPr sz="1400">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SARIMA model forecasts increasing demand, guiding resource allocation.</a:t>
            </a:r>
            <a:endParaRPr sz="1400">
              <a:solidFill>
                <a:schemeClr val="dk1"/>
              </a:solidFill>
              <a:latin typeface="Times New Roman"/>
              <a:ea typeface="Times New Roman"/>
              <a:cs typeface="Times New Roman"/>
              <a:sym typeface="Times New Roman"/>
            </a:endParaRPr>
          </a:p>
          <a:p>
            <a:pPr marL="0" lvl="0" indent="0" algn="l" rtl="0">
              <a:spcBef>
                <a:spcPts val="1200"/>
              </a:spcBef>
              <a:spcAft>
                <a:spcPts val="0"/>
              </a:spcAft>
              <a:buClr>
                <a:schemeClr val="dk1"/>
              </a:buClr>
              <a:buSzPts val="1100"/>
              <a:buFont typeface="Arial"/>
              <a:buNone/>
            </a:pPr>
            <a:r>
              <a:rPr lang="en" sz="1400" b="1">
                <a:solidFill>
                  <a:schemeClr val="dk1"/>
                </a:solidFill>
                <a:latin typeface="Times New Roman"/>
                <a:ea typeface="Times New Roman"/>
                <a:cs typeface="Times New Roman"/>
                <a:sym typeface="Times New Roman"/>
              </a:rPr>
              <a:t>Final Takeaways:</a:t>
            </a:r>
            <a:endParaRPr sz="1400" b="1">
              <a:solidFill>
                <a:schemeClr val="dk1"/>
              </a:solidFill>
              <a:latin typeface="Times New Roman"/>
              <a:ea typeface="Times New Roman"/>
              <a:cs typeface="Times New Roman"/>
              <a:sym typeface="Times New Roman"/>
            </a:endParaRPr>
          </a:p>
          <a:p>
            <a:pPr marL="457200" lvl="0" indent="-317500" algn="l" rtl="0">
              <a:spcBef>
                <a:spcPts val="120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Data-driven insights improve public health interventions.</a:t>
            </a:r>
            <a:endParaRPr sz="1400">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Predictive models support evidence-based policy decisions.</a:t>
            </a:r>
            <a:endParaRPr sz="1400">
              <a:solidFill>
                <a:schemeClr val="dk1"/>
              </a:solidFill>
              <a:latin typeface="Times New Roman"/>
              <a:ea typeface="Times New Roman"/>
              <a:cs typeface="Times New Roman"/>
              <a:sym typeface="Times New Roman"/>
            </a:endParaRPr>
          </a:p>
          <a:p>
            <a:pPr marL="0" lvl="0" indent="0" algn="l" rtl="0">
              <a:spcBef>
                <a:spcPts val="1200"/>
              </a:spcBef>
              <a:spcAft>
                <a:spcPts val="1200"/>
              </a:spcAft>
              <a:buNone/>
            </a:pPr>
            <a:endParaRPr sz="14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References</a:t>
            </a:r>
            <a:endParaRPr/>
          </a:p>
        </p:txBody>
      </p:sp>
      <p:sp>
        <p:nvSpPr>
          <p:cNvPr id="136" name="Google Shape;136;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Aguilera, J., Baxter, M., &amp; Tapia, A. H. (2021). Spatial analysis of urban syringe disposal</a:t>
            </a:r>
            <a:endParaRPr sz="1400">
              <a:solidFill>
                <a:schemeClr val="dk1"/>
              </a:solidFill>
              <a:latin typeface="Times New Roman"/>
              <a:ea typeface="Times New Roman"/>
              <a:cs typeface="Times New Roman"/>
              <a:sym typeface="Times New Roman"/>
            </a:endParaRPr>
          </a:p>
          <a:p>
            <a:pPr marL="0" lvl="0" indent="457200" algn="l" rtl="0">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patterns: Implications for public health interventions. </a:t>
            </a:r>
            <a:r>
              <a:rPr lang="en" sz="1400" i="1">
                <a:solidFill>
                  <a:schemeClr val="dk1"/>
                </a:solidFill>
                <a:latin typeface="Times New Roman"/>
                <a:ea typeface="Times New Roman"/>
                <a:cs typeface="Times New Roman"/>
                <a:sym typeface="Times New Roman"/>
              </a:rPr>
              <a:t>Journal of Urban Health, 98</a:t>
            </a:r>
            <a:r>
              <a:rPr lang="en" sz="1400">
                <a:solidFill>
                  <a:schemeClr val="dk1"/>
                </a:solidFill>
                <a:latin typeface="Times New Roman"/>
                <a:ea typeface="Times New Roman"/>
                <a:cs typeface="Times New Roman"/>
                <a:sym typeface="Times New Roman"/>
              </a:rPr>
              <a:t>(4),</a:t>
            </a:r>
            <a:endParaRPr sz="1400">
              <a:solidFill>
                <a:schemeClr val="dk1"/>
              </a:solidFill>
              <a:latin typeface="Times New Roman"/>
              <a:ea typeface="Times New Roman"/>
              <a:cs typeface="Times New Roman"/>
              <a:sym typeface="Times New Roman"/>
            </a:endParaRPr>
          </a:p>
          <a:p>
            <a:pPr marL="0" lvl="0" indent="457200" algn="l" rtl="0">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567-582.</a:t>
            </a:r>
            <a:endParaRPr sz="1400">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Buchanan, D., Shaw, S., &amp; Ford, A. (2020). Predictive analytics in public health: Using</a:t>
            </a:r>
            <a:endParaRPr sz="1400">
              <a:solidFill>
                <a:schemeClr val="dk1"/>
              </a:solidFill>
              <a:latin typeface="Times New Roman"/>
              <a:ea typeface="Times New Roman"/>
              <a:cs typeface="Times New Roman"/>
              <a:sym typeface="Times New Roman"/>
            </a:endParaRPr>
          </a:p>
          <a:p>
            <a:pPr marL="0" lvl="0" indent="457200" algn="l" rtl="0">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machine learning to identify high-risk areas for needle disposal. </a:t>
            </a:r>
            <a:r>
              <a:rPr lang="en" sz="1400" i="1">
                <a:solidFill>
                  <a:schemeClr val="dk1"/>
                </a:solidFill>
                <a:latin typeface="Times New Roman"/>
                <a:ea typeface="Times New Roman"/>
                <a:cs typeface="Times New Roman"/>
                <a:sym typeface="Times New Roman"/>
              </a:rPr>
              <a:t>Health Informatics</a:t>
            </a:r>
            <a:endParaRPr sz="1400" i="1">
              <a:solidFill>
                <a:schemeClr val="dk1"/>
              </a:solidFill>
              <a:latin typeface="Times New Roman"/>
              <a:ea typeface="Times New Roman"/>
              <a:cs typeface="Times New Roman"/>
              <a:sym typeface="Times New Roman"/>
            </a:endParaRPr>
          </a:p>
          <a:p>
            <a:pPr marL="0" lvl="0" indent="457200" algn="l" rtl="0">
              <a:spcBef>
                <a:spcPts val="0"/>
              </a:spcBef>
              <a:spcAft>
                <a:spcPts val="0"/>
              </a:spcAft>
              <a:buClr>
                <a:schemeClr val="dk1"/>
              </a:buClr>
              <a:buSzPts val="1100"/>
              <a:buFont typeface="Arial"/>
              <a:buNone/>
            </a:pPr>
            <a:r>
              <a:rPr lang="en" sz="1400" i="1">
                <a:solidFill>
                  <a:schemeClr val="dk1"/>
                </a:solidFill>
                <a:latin typeface="Times New Roman"/>
                <a:ea typeface="Times New Roman"/>
                <a:cs typeface="Times New Roman"/>
                <a:sym typeface="Times New Roman"/>
              </a:rPr>
              <a:t>Journal, 26</a:t>
            </a:r>
            <a:r>
              <a:rPr lang="en" sz="1400">
                <a:solidFill>
                  <a:schemeClr val="dk1"/>
                </a:solidFill>
                <a:latin typeface="Times New Roman"/>
                <a:ea typeface="Times New Roman"/>
                <a:cs typeface="Times New Roman"/>
                <a:sym typeface="Times New Roman"/>
              </a:rPr>
              <a:t>(3), 1982-1996.</a:t>
            </a:r>
            <a:endParaRPr sz="1400">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Klein, A. Z., &amp; Park, H. S. (2022). Examining the relationship between opioid crisis and</a:t>
            </a:r>
            <a:endParaRPr sz="1400">
              <a:solidFill>
                <a:schemeClr val="dk1"/>
              </a:solidFill>
              <a:latin typeface="Times New Roman"/>
              <a:ea typeface="Times New Roman"/>
              <a:cs typeface="Times New Roman"/>
              <a:sym typeface="Times New Roman"/>
            </a:endParaRPr>
          </a:p>
          <a:p>
            <a:pPr marL="0" lvl="0" indent="457200" algn="l" rtl="0">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syringe disposal sites: A statistical approach. </a:t>
            </a:r>
            <a:r>
              <a:rPr lang="en" sz="1400" i="1">
                <a:solidFill>
                  <a:schemeClr val="dk1"/>
                </a:solidFill>
                <a:latin typeface="Times New Roman"/>
                <a:ea typeface="Times New Roman"/>
                <a:cs typeface="Times New Roman"/>
                <a:sym typeface="Times New Roman"/>
              </a:rPr>
              <a:t>International Journal of Drug Policy, 103</a:t>
            </a:r>
            <a:r>
              <a:rPr lang="en" sz="1400">
                <a:solidFill>
                  <a:schemeClr val="dk1"/>
                </a:solidFill>
                <a:latin typeface="Times New Roman"/>
                <a:ea typeface="Times New Roman"/>
                <a:cs typeface="Times New Roman"/>
                <a:sym typeface="Times New Roman"/>
              </a:rPr>
              <a:t>,</a:t>
            </a:r>
            <a:endParaRPr sz="1400">
              <a:solidFill>
                <a:schemeClr val="dk1"/>
              </a:solidFill>
              <a:latin typeface="Times New Roman"/>
              <a:ea typeface="Times New Roman"/>
              <a:cs typeface="Times New Roman"/>
              <a:sym typeface="Times New Roman"/>
            </a:endParaRPr>
          </a:p>
          <a:p>
            <a:pPr marL="0" lvl="0" indent="457200" algn="l" rtl="0">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180-197.</a:t>
            </a:r>
            <a:endParaRPr sz="1400">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Chen, H., Chiang, R. H. L., &amp; Storey, V . C. (2012). Business Intelligence and Analytics:</a:t>
            </a:r>
            <a:endParaRPr sz="1400">
              <a:solidFill>
                <a:schemeClr val="dk1"/>
              </a:solidFill>
              <a:latin typeface="Times New Roman"/>
              <a:ea typeface="Times New Roman"/>
              <a:cs typeface="Times New Roman"/>
              <a:sym typeface="Times New Roman"/>
            </a:endParaRPr>
          </a:p>
          <a:p>
            <a:pPr marL="0" lvl="0" indent="457200" algn="l" rtl="0">
              <a:spcBef>
                <a:spcPts val="0"/>
              </a:spcBef>
              <a:spcAft>
                <a:spcPts val="0"/>
              </a:spcAft>
              <a:buNone/>
            </a:pPr>
            <a:r>
              <a:rPr lang="en" sz="1400">
                <a:solidFill>
                  <a:schemeClr val="dk1"/>
                </a:solidFill>
                <a:latin typeface="Times New Roman"/>
                <a:ea typeface="Times New Roman"/>
                <a:cs typeface="Times New Roman"/>
                <a:sym typeface="Times New Roman"/>
              </a:rPr>
              <a:t>From Big Data to Big Impact. </a:t>
            </a:r>
            <a:r>
              <a:rPr lang="en" sz="1400" i="1">
                <a:solidFill>
                  <a:schemeClr val="dk1"/>
                </a:solidFill>
                <a:latin typeface="Times New Roman"/>
                <a:ea typeface="Times New Roman"/>
                <a:cs typeface="Times New Roman"/>
                <a:sym typeface="Times New Roman"/>
              </a:rPr>
              <a:t>MIS Quarterly</a:t>
            </a:r>
            <a:r>
              <a:rPr lang="en" sz="1400">
                <a:solidFill>
                  <a:schemeClr val="dk1"/>
                </a:solidFill>
                <a:latin typeface="Times New Roman"/>
                <a:ea typeface="Times New Roman"/>
                <a:cs typeface="Times New Roman"/>
                <a:sym typeface="Times New Roman"/>
              </a:rPr>
              <a:t>, </a:t>
            </a:r>
            <a:r>
              <a:rPr lang="en" sz="1400" i="1">
                <a:solidFill>
                  <a:schemeClr val="dk1"/>
                </a:solidFill>
                <a:latin typeface="Times New Roman"/>
                <a:ea typeface="Times New Roman"/>
                <a:cs typeface="Times New Roman"/>
                <a:sym typeface="Times New Roman"/>
              </a:rPr>
              <a:t>36</a:t>
            </a:r>
            <a:r>
              <a:rPr lang="en" sz="1400">
                <a:solidFill>
                  <a:schemeClr val="dk1"/>
                </a:solidFill>
                <a:latin typeface="Times New Roman"/>
                <a:ea typeface="Times New Roman"/>
                <a:cs typeface="Times New Roman"/>
                <a:sym typeface="Times New Roman"/>
              </a:rPr>
              <a:t>(4), 1165–1188.</a:t>
            </a:r>
            <a:endParaRPr sz="1400">
              <a:solidFill>
                <a:srgbClr val="103CC0"/>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Guy, G. P., Zhang, K., Bohm, M. K., Losby, J., Lewis, B., Young, R., Murphy, L. B., &amp;</a:t>
            </a:r>
            <a:endParaRPr sz="1400">
              <a:solidFill>
                <a:schemeClr val="dk1"/>
              </a:solidFill>
              <a:latin typeface="Times New Roman"/>
              <a:ea typeface="Times New Roman"/>
              <a:cs typeface="Times New Roman"/>
              <a:sym typeface="Times New Roman"/>
            </a:endParaRPr>
          </a:p>
          <a:p>
            <a:pPr marL="0" lvl="0" indent="457200" algn="l" rtl="0">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Dowell, D. (2017). Vital Signs: Changes in Opioid Prescribing in the United States,</a:t>
            </a:r>
            <a:endParaRPr sz="1400">
              <a:solidFill>
                <a:schemeClr val="dk1"/>
              </a:solidFill>
              <a:latin typeface="Times New Roman"/>
              <a:ea typeface="Times New Roman"/>
              <a:cs typeface="Times New Roman"/>
              <a:sym typeface="Times New Roman"/>
            </a:endParaRPr>
          </a:p>
          <a:p>
            <a:pPr marL="0" lvl="0" indent="457200" algn="l" rtl="0">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2006–2015. </a:t>
            </a:r>
            <a:r>
              <a:rPr lang="en" sz="1400" i="1">
                <a:solidFill>
                  <a:schemeClr val="dk1"/>
                </a:solidFill>
                <a:latin typeface="Times New Roman"/>
                <a:ea typeface="Times New Roman"/>
                <a:cs typeface="Times New Roman"/>
                <a:sym typeface="Times New Roman"/>
              </a:rPr>
              <a:t>MMWR. Morbidity and Mortality Weekly Report</a:t>
            </a:r>
            <a:r>
              <a:rPr lang="en" sz="1400">
                <a:solidFill>
                  <a:schemeClr val="dk1"/>
                </a:solidFill>
                <a:latin typeface="Times New Roman"/>
                <a:ea typeface="Times New Roman"/>
                <a:cs typeface="Times New Roman"/>
                <a:sym typeface="Times New Roman"/>
              </a:rPr>
              <a:t>, </a:t>
            </a:r>
            <a:r>
              <a:rPr lang="en" sz="1400" i="1">
                <a:solidFill>
                  <a:schemeClr val="dk1"/>
                </a:solidFill>
                <a:latin typeface="Times New Roman"/>
                <a:ea typeface="Times New Roman"/>
                <a:cs typeface="Times New Roman"/>
                <a:sym typeface="Times New Roman"/>
              </a:rPr>
              <a:t>66</a:t>
            </a:r>
            <a:r>
              <a:rPr lang="en" sz="1400">
                <a:solidFill>
                  <a:schemeClr val="dk1"/>
                </a:solidFill>
                <a:latin typeface="Times New Roman"/>
                <a:ea typeface="Times New Roman"/>
                <a:cs typeface="Times New Roman"/>
                <a:sym typeface="Times New Roman"/>
              </a:rPr>
              <a:t>(26), 697–704.</a:t>
            </a:r>
            <a:endParaRPr sz="1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400">
              <a:solidFill>
                <a:srgbClr val="103CC0"/>
              </a:solidFill>
              <a:latin typeface="Times New Roman"/>
              <a:ea typeface="Times New Roman"/>
              <a:cs typeface="Times New Roman"/>
              <a:sym typeface="Times New Roman"/>
            </a:endParaRPr>
          </a:p>
          <a:p>
            <a:pPr marL="0" lvl="0" indent="0" algn="l" rtl="0">
              <a:spcBef>
                <a:spcPts val="0"/>
              </a:spcBef>
              <a:spcAft>
                <a:spcPts val="1200"/>
              </a:spcAft>
              <a:buNone/>
            </a:pPr>
            <a:endParaRPr sz="14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Contribution</a:t>
            </a:r>
            <a:endParaRPr/>
          </a:p>
        </p:txBody>
      </p:sp>
      <p:sp>
        <p:nvSpPr>
          <p:cNvPr id="142" name="Google Shape;142;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lnSpc>
                <a:spcPct val="150000"/>
              </a:lnSpc>
              <a:spcBef>
                <a:spcPts val="0"/>
              </a:spcBef>
              <a:spcAft>
                <a:spcPts val="0"/>
              </a:spcAft>
              <a:buNone/>
            </a:pPr>
            <a:r>
              <a:rPr lang="en" sz="1533" b="1">
                <a:solidFill>
                  <a:schemeClr val="dk1"/>
                </a:solidFill>
                <a:latin typeface="Times New Roman"/>
                <a:ea typeface="Times New Roman"/>
                <a:cs typeface="Times New Roman"/>
                <a:sym typeface="Times New Roman"/>
              </a:rPr>
              <a:t>Akshay Ganesh Hanchate:</a:t>
            </a:r>
            <a:endParaRPr sz="1533" b="1">
              <a:solidFill>
                <a:schemeClr val="dk1"/>
              </a:solidFill>
              <a:latin typeface="Times New Roman"/>
              <a:ea typeface="Times New Roman"/>
              <a:cs typeface="Times New Roman"/>
              <a:sym typeface="Times New Roman"/>
            </a:endParaRPr>
          </a:p>
          <a:p>
            <a:pPr marL="0" lvl="0" indent="0" algn="just" rtl="0">
              <a:lnSpc>
                <a:spcPct val="150000"/>
              </a:lnSpc>
              <a:spcBef>
                <a:spcPts val="0"/>
              </a:spcBef>
              <a:spcAft>
                <a:spcPts val="0"/>
              </a:spcAft>
              <a:buNone/>
            </a:pPr>
            <a:r>
              <a:rPr lang="en" sz="1533">
                <a:solidFill>
                  <a:schemeClr val="dk1"/>
                </a:solidFill>
                <a:latin typeface="Times New Roman"/>
                <a:ea typeface="Times New Roman"/>
                <a:cs typeface="Times New Roman"/>
                <a:sym typeface="Times New Roman"/>
              </a:rPr>
              <a:t>Conducted EDA to identify key trends and data discrepancies. Discovered critical insights, such as a high concentration of syringe disposals at intersections. Addressed inconsistencies in case status reporting to enhance data accuracy. Developed a SARIMA time-series model to predict future syringe disposal trends, providing a data-driven approach for resource planning and harm reduction strategies.</a:t>
            </a:r>
            <a:endParaRPr sz="1533">
              <a:solidFill>
                <a:schemeClr val="dk1"/>
              </a:solidFill>
              <a:latin typeface="Times New Roman"/>
              <a:ea typeface="Times New Roman"/>
              <a:cs typeface="Times New Roman"/>
              <a:sym typeface="Times New Roman"/>
            </a:endParaRPr>
          </a:p>
          <a:p>
            <a:pPr marL="0" lvl="0" indent="0" algn="l" rtl="0">
              <a:lnSpc>
                <a:spcPct val="150000"/>
              </a:lnSpc>
              <a:spcBef>
                <a:spcPts val="0"/>
              </a:spcBef>
              <a:spcAft>
                <a:spcPts val="0"/>
              </a:spcAft>
              <a:buNone/>
            </a:pPr>
            <a:r>
              <a:rPr lang="en" sz="1533" b="1">
                <a:solidFill>
                  <a:schemeClr val="dk1"/>
                </a:solidFill>
                <a:latin typeface="Times New Roman"/>
                <a:ea typeface="Times New Roman"/>
                <a:cs typeface="Times New Roman"/>
                <a:sym typeface="Times New Roman"/>
              </a:rPr>
              <a:t>Vidhi Rajeshbhai Mistry:</a:t>
            </a:r>
            <a:endParaRPr sz="1533" b="1">
              <a:solidFill>
                <a:schemeClr val="dk1"/>
              </a:solidFill>
              <a:latin typeface="Times New Roman"/>
              <a:ea typeface="Times New Roman"/>
              <a:cs typeface="Times New Roman"/>
              <a:sym typeface="Times New Roman"/>
            </a:endParaRPr>
          </a:p>
          <a:p>
            <a:pPr marL="0" lvl="0" indent="0" algn="l" rtl="0">
              <a:lnSpc>
                <a:spcPct val="150000"/>
              </a:lnSpc>
              <a:spcBef>
                <a:spcPts val="0"/>
              </a:spcBef>
              <a:spcAft>
                <a:spcPts val="0"/>
              </a:spcAft>
              <a:buClr>
                <a:schemeClr val="dk1"/>
              </a:buClr>
              <a:buSzPts val="1100"/>
              <a:buFont typeface="Arial"/>
              <a:buNone/>
            </a:pPr>
            <a:endParaRPr sz="1533" b="1">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6"/>
          <p:cNvSpPr txBox="1">
            <a:spLocks noGrp="1"/>
          </p:cNvSpPr>
          <p:nvPr>
            <p:ph type="title"/>
          </p:nvPr>
        </p:nvSpPr>
        <p:spPr>
          <a:xfrm>
            <a:off x="311700" y="216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Contributions</a:t>
            </a:r>
            <a:endParaRPr/>
          </a:p>
        </p:txBody>
      </p:sp>
      <p:sp>
        <p:nvSpPr>
          <p:cNvPr id="140" name="Google Shape;140;p26"/>
          <p:cNvSpPr txBox="1">
            <a:spLocks noGrp="1"/>
          </p:cNvSpPr>
          <p:nvPr>
            <p:ph type="body" idx="1"/>
          </p:nvPr>
        </p:nvSpPr>
        <p:spPr>
          <a:xfrm>
            <a:off x="311700" y="789500"/>
            <a:ext cx="8520600" cy="4111800"/>
          </a:xfrm>
          <a:prstGeom prst="rect">
            <a:avLst/>
          </a:prstGeom>
        </p:spPr>
        <p:txBody>
          <a:bodyPr spcFirstLastPara="1" wrap="square" lIns="91425" tIns="91425" rIns="91425" bIns="91425" anchor="t" anchorCtr="0">
            <a:noAutofit/>
          </a:bodyPr>
          <a:lstStyle/>
          <a:p>
            <a:pPr marL="457200" lvl="0" indent="-325966" algn="l" rtl="0">
              <a:lnSpc>
                <a:spcPct val="150000"/>
              </a:lnSpc>
              <a:spcBef>
                <a:spcPts val="0"/>
              </a:spcBef>
              <a:spcAft>
                <a:spcPts val="0"/>
              </a:spcAft>
              <a:buClr>
                <a:schemeClr val="dk1"/>
              </a:buClr>
              <a:buSzPts val="1533"/>
              <a:buFont typeface="Times New Roman"/>
              <a:buChar char="●"/>
            </a:pPr>
            <a:r>
              <a:rPr lang="en" sz="1533">
                <a:solidFill>
                  <a:schemeClr val="dk1"/>
                </a:solidFill>
                <a:latin typeface="Times New Roman"/>
                <a:ea typeface="Times New Roman"/>
                <a:cs typeface="Times New Roman"/>
                <a:sym typeface="Times New Roman"/>
              </a:rPr>
              <a:t>Akshay Ganesh Hanchate: </a:t>
            </a:r>
            <a:endParaRPr sz="1533">
              <a:solidFill>
                <a:schemeClr val="dk1"/>
              </a:solidFill>
              <a:latin typeface="Times New Roman"/>
              <a:ea typeface="Times New Roman"/>
              <a:cs typeface="Times New Roman"/>
              <a:sym typeface="Times New Roman"/>
            </a:endParaRPr>
          </a:p>
          <a:p>
            <a:pPr marL="457200" lvl="0" indent="0" algn="l" rtl="0">
              <a:lnSpc>
                <a:spcPct val="150000"/>
              </a:lnSpc>
              <a:spcBef>
                <a:spcPts val="0"/>
              </a:spcBef>
              <a:spcAft>
                <a:spcPts val="0"/>
              </a:spcAft>
              <a:buNone/>
            </a:pPr>
            <a:r>
              <a:rPr lang="en" sz="1400">
                <a:solidFill>
                  <a:schemeClr val="dk1"/>
                </a:solidFill>
                <a:latin typeface="Times New Roman"/>
                <a:ea typeface="Times New Roman"/>
                <a:cs typeface="Times New Roman"/>
                <a:sym typeface="Times New Roman"/>
              </a:rPr>
              <a:t>Conducted</a:t>
            </a:r>
            <a:r>
              <a:rPr lang="en" sz="1400" b="1">
                <a:solidFill>
                  <a:schemeClr val="dk1"/>
                </a:solidFill>
                <a:latin typeface="Times New Roman"/>
                <a:ea typeface="Times New Roman"/>
                <a:cs typeface="Times New Roman"/>
                <a:sym typeface="Times New Roman"/>
              </a:rPr>
              <a:t> </a:t>
            </a:r>
            <a:r>
              <a:rPr lang="en" sz="1400">
                <a:solidFill>
                  <a:schemeClr val="dk1"/>
                </a:solidFill>
                <a:latin typeface="Times New Roman"/>
                <a:ea typeface="Times New Roman"/>
                <a:cs typeface="Times New Roman"/>
                <a:sym typeface="Times New Roman"/>
              </a:rPr>
              <a:t>EDA to identify key trends and data discrepancies. Discovered critical insights, such as a high concentration of syringe disposals at intersections. Addressed inconsistencies in case status reporting to enhance data accuracy. Developed a</a:t>
            </a:r>
            <a:r>
              <a:rPr lang="en" sz="1400" b="1">
                <a:solidFill>
                  <a:schemeClr val="dk1"/>
                </a:solidFill>
                <a:latin typeface="Times New Roman"/>
                <a:ea typeface="Times New Roman"/>
                <a:cs typeface="Times New Roman"/>
                <a:sym typeface="Times New Roman"/>
              </a:rPr>
              <a:t> </a:t>
            </a:r>
            <a:r>
              <a:rPr lang="en" sz="1400">
                <a:solidFill>
                  <a:schemeClr val="dk1"/>
                </a:solidFill>
                <a:latin typeface="Times New Roman"/>
                <a:ea typeface="Times New Roman"/>
                <a:cs typeface="Times New Roman"/>
                <a:sym typeface="Times New Roman"/>
              </a:rPr>
              <a:t>SARIMA time-series model</a:t>
            </a:r>
            <a:r>
              <a:rPr lang="en" sz="1400" b="1">
                <a:solidFill>
                  <a:schemeClr val="dk1"/>
                </a:solidFill>
                <a:latin typeface="Times New Roman"/>
                <a:ea typeface="Times New Roman"/>
                <a:cs typeface="Times New Roman"/>
                <a:sym typeface="Times New Roman"/>
              </a:rPr>
              <a:t> </a:t>
            </a:r>
            <a:r>
              <a:rPr lang="en" sz="1400">
                <a:solidFill>
                  <a:schemeClr val="dk1"/>
                </a:solidFill>
                <a:latin typeface="Times New Roman"/>
                <a:ea typeface="Times New Roman"/>
                <a:cs typeface="Times New Roman"/>
                <a:sym typeface="Times New Roman"/>
              </a:rPr>
              <a:t>to predict future syringe disposal trends, providing a data-driven approach for resource planning and harm reduction strategies.</a:t>
            </a:r>
            <a:endParaRPr sz="1400">
              <a:solidFill>
                <a:schemeClr val="dk1"/>
              </a:solidFill>
              <a:latin typeface="Times New Roman"/>
              <a:ea typeface="Times New Roman"/>
              <a:cs typeface="Times New Roman"/>
              <a:sym typeface="Times New Roman"/>
            </a:endParaRPr>
          </a:p>
          <a:p>
            <a:pPr marL="457200" lvl="0" indent="-325966" algn="l" rtl="0">
              <a:lnSpc>
                <a:spcPct val="150000"/>
              </a:lnSpc>
              <a:spcBef>
                <a:spcPts val="0"/>
              </a:spcBef>
              <a:spcAft>
                <a:spcPts val="0"/>
              </a:spcAft>
              <a:buClr>
                <a:schemeClr val="dk1"/>
              </a:buClr>
              <a:buSzPts val="1533"/>
              <a:buFont typeface="Times New Roman"/>
              <a:buChar char="●"/>
            </a:pPr>
            <a:r>
              <a:rPr lang="en" sz="1533">
                <a:solidFill>
                  <a:schemeClr val="dk1"/>
                </a:solidFill>
                <a:latin typeface="Times New Roman"/>
                <a:ea typeface="Times New Roman"/>
                <a:cs typeface="Times New Roman"/>
                <a:sym typeface="Times New Roman"/>
              </a:rPr>
              <a:t>Vidhi Rajeshbhai Mistry:</a:t>
            </a:r>
            <a:endParaRPr sz="1533">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1100" b="1">
                <a:solidFill>
                  <a:schemeClr val="dk1"/>
                </a:solidFill>
              </a:rPr>
              <a:t>          A.</a:t>
            </a:r>
            <a:r>
              <a:rPr lang="en" sz="1100">
                <a:solidFill>
                  <a:schemeClr val="dk1"/>
                </a:solidFill>
              </a:rPr>
              <a:t> </a:t>
            </a:r>
            <a:r>
              <a:rPr lang="en" sz="1200" b="1">
                <a:solidFill>
                  <a:schemeClr val="dk1"/>
                </a:solidFill>
              </a:rPr>
              <a:t>Performed EDA</a:t>
            </a:r>
            <a:r>
              <a:rPr lang="en" sz="1200">
                <a:solidFill>
                  <a:schemeClr val="dk1"/>
                </a:solidFill>
              </a:rPr>
              <a:t> on 10,730 syringe requests, identifying District 2, 7, and 3 as high-risk areas.</a:t>
            </a:r>
            <a:endParaRPr sz="1200">
              <a:solidFill>
                <a:schemeClr val="dk1"/>
              </a:solidFill>
            </a:endParaRPr>
          </a:p>
          <a:p>
            <a:pPr marL="0" lvl="0" indent="0" algn="l" rtl="0">
              <a:spcBef>
                <a:spcPts val="0"/>
              </a:spcBef>
              <a:spcAft>
                <a:spcPts val="0"/>
              </a:spcAft>
              <a:buNone/>
            </a:pPr>
            <a:r>
              <a:rPr lang="en" sz="1200">
                <a:solidFill>
                  <a:schemeClr val="dk1"/>
                </a:solidFill>
              </a:rPr>
              <a:t>         </a:t>
            </a:r>
            <a:r>
              <a:rPr lang="en" sz="1200" b="1">
                <a:solidFill>
                  <a:schemeClr val="dk1"/>
                </a:solidFill>
              </a:rPr>
              <a:t>B.</a:t>
            </a:r>
            <a:r>
              <a:rPr lang="en" sz="1200">
                <a:solidFill>
                  <a:schemeClr val="dk1"/>
                </a:solidFill>
              </a:rPr>
              <a:t> Created a </a:t>
            </a:r>
            <a:r>
              <a:rPr lang="en" sz="1200" b="1">
                <a:solidFill>
                  <a:schemeClr val="dk1"/>
                </a:solidFill>
              </a:rPr>
              <a:t>heatmap showing syringe disposal hotspots</a:t>
            </a:r>
            <a:r>
              <a:rPr lang="en" sz="1200">
                <a:solidFill>
                  <a:schemeClr val="dk1"/>
                </a:solidFill>
              </a:rPr>
              <a:t>, with District 2 having 3,915 requests (highest in Boston).</a:t>
            </a:r>
            <a:endParaRPr sz="1200">
              <a:solidFill>
                <a:schemeClr val="dk1"/>
              </a:solidFill>
            </a:endParaRPr>
          </a:p>
          <a:p>
            <a:pPr marL="0" lvl="0" indent="0" algn="l" rtl="0">
              <a:spcBef>
                <a:spcPts val="0"/>
              </a:spcBef>
              <a:spcAft>
                <a:spcPts val="0"/>
              </a:spcAft>
              <a:buNone/>
            </a:pPr>
            <a:r>
              <a:rPr lang="en" sz="1200">
                <a:solidFill>
                  <a:schemeClr val="dk1"/>
                </a:solidFill>
              </a:rPr>
              <a:t>         </a:t>
            </a:r>
            <a:r>
              <a:rPr lang="en" sz="1200" b="1">
                <a:solidFill>
                  <a:schemeClr val="dk1"/>
                </a:solidFill>
              </a:rPr>
              <a:t>C.</a:t>
            </a:r>
            <a:r>
              <a:rPr lang="en" sz="1200">
                <a:solidFill>
                  <a:schemeClr val="dk1"/>
                </a:solidFill>
              </a:rPr>
              <a:t> Developed a </a:t>
            </a:r>
            <a:r>
              <a:rPr lang="en" sz="1200" b="1">
                <a:solidFill>
                  <a:schemeClr val="dk1"/>
                </a:solidFill>
              </a:rPr>
              <a:t>regression model with an R² of 0.85</a:t>
            </a:r>
            <a:r>
              <a:rPr lang="en" sz="1200">
                <a:solidFill>
                  <a:schemeClr val="dk1"/>
                </a:solidFill>
              </a:rPr>
              <a:t>, indicating strong predictive power. </a:t>
            </a:r>
            <a:endParaRPr sz="1200">
              <a:solidFill>
                <a:schemeClr val="dk1"/>
              </a:solidFill>
            </a:endParaRPr>
          </a:p>
          <a:p>
            <a:pPr marL="0" lvl="0" indent="0" algn="l" rtl="0">
              <a:spcBef>
                <a:spcPts val="1200"/>
              </a:spcBef>
              <a:spcAft>
                <a:spcPts val="0"/>
              </a:spcAft>
              <a:buNone/>
            </a:pPr>
            <a:r>
              <a:rPr lang="en" sz="1200">
                <a:solidFill>
                  <a:schemeClr val="dk1"/>
                </a:solidFill>
              </a:rPr>
              <a:t>Key Findings: </a:t>
            </a:r>
            <a:endParaRPr sz="1200">
              <a:solidFill>
                <a:schemeClr val="dk1"/>
              </a:solidFill>
            </a:endParaRPr>
          </a:p>
          <a:p>
            <a:pPr marL="457200" lvl="0" indent="-304800" algn="l" rtl="0">
              <a:spcBef>
                <a:spcPts val="1200"/>
              </a:spcBef>
              <a:spcAft>
                <a:spcPts val="0"/>
              </a:spcAft>
              <a:buClr>
                <a:schemeClr val="dk1"/>
              </a:buClr>
              <a:buSzPts val="1200"/>
              <a:buAutoNum type="arabicPeriod"/>
            </a:pPr>
            <a:r>
              <a:rPr lang="en" sz="1200" b="1">
                <a:solidFill>
                  <a:schemeClr val="dk1"/>
                </a:solidFill>
              </a:rPr>
              <a:t>Population density (coef: 1.2):</a:t>
            </a:r>
            <a:r>
              <a:rPr lang="en" sz="1200">
                <a:solidFill>
                  <a:schemeClr val="dk1"/>
                </a:solidFill>
              </a:rPr>
              <a:t> Higher population density leads to an increase in syringe requests.</a:t>
            </a:r>
            <a:endParaRPr sz="1200">
              <a:solidFill>
                <a:schemeClr val="dk1"/>
              </a:solidFill>
            </a:endParaRPr>
          </a:p>
          <a:p>
            <a:pPr marL="457200" lvl="0" indent="-304800" algn="l" rtl="0">
              <a:spcBef>
                <a:spcPts val="0"/>
              </a:spcBef>
              <a:spcAft>
                <a:spcPts val="0"/>
              </a:spcAft>
              <a:buClr>
                <a:schemeClr val="dk1"/>
              </a:buClr>
              <a:buSzPts val="1200"/>
              <a:buAutoNum type="arabicPeriod"/>
            </a:pPr>
            <a:r>
              <a:rPr lang="en" sz="1200" b="1">
                <a:solidFill>
                  <a:schemeClr val="dk1"/>
                </a:solidFill>
              </a:rPr>
              <a:t>Proximity to health services (coef: -0.8):</a:t>
            </a:r>
            <a:r>
              <a:rPr lang="en" sz="1200">
                <a:solidFill>
                  <a:schemeClr val="dk1"/>
                </a:solidFill>
              </a:rPr>
              <a:t> Areas closer to health services tend to have fewer syringe requests.</a:t>
            </a:r>
            <a:endParaRPr sz="1200">
              <a:solidFill>
                <a:schemeClr val="dk1"/>
              </a:solidFill>
            </a:endParaRPr>
          </a:p>
          <a:p>
            <a:pPr marL="0" lvl="0" indent="0" algn="l" rtl="0">
              <a:spcBef>
                <a:spcPts val="1200"/>
              </a:spcBef>
              <a:spcAft>
                <a:spcPts val="0"/>
              </a:spcAft>
              <a:buNone/>
            </a:pPr>
            <a:endParaRPr sz="1200">
              <a:solidFill>
                <a:schemeClr val="dk1"/>
              </a:solidFill>
            </a:endParaRPr>
          </a:p>
          <a:p>
            <a:pPr marL="457200" lvl="0" indent="0" algn="l" rtl="0">
              <a:lnSpc>
                <a:spcPct val="150000"/>
              </a:lnSpc>
              <a:spcBef>
                <a:spcPts val="1200"/>
              </a:spcBef>
              <a:spcAft>
                <a:spcPts val="0"/>
              </a:spcAft>
              <a:buNone/>
            </a:pPr>
            <a:endParaRPr sz="1533">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400">
              <a:solidFill>
                <a:schemeClr val="dk1"/>
              </a:solidFill>
              <a:latin typeface="Times New Roman"/>
              <a:ea typeface="Times New Roman"/>
              <a:cs typeface="Times New Roman"/>
              <a:sym typeface="Times New Roman"/>
            </a:endParaRPr>
          </a:p>
          <a:p>
            <a:pPr marL="0" lvl="0" indent="0" algn="l" rtl="0">
              <a:spcBef>
                <a:spcPts val="0"/>
              </a:spcBef>
              <a:spcAft>
                <a:spcPts val="1200"/>
              </a:spcAft>
              <a:buNone/>
            </a:pPr>
            <a:endParaRPr sz="14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7"/>
          <p:cNvSpPr txBox="1">
            <a:spLocks noGrp="1"/>
          </p:cNvSpPr>
          <p:nvPr>
            <p:ph type="title"/>
          </p:nvPr>
        </p:nvSpPr>
        <p:spPr>
          <a:xfrm>
            <a:off x="311700" y="266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Contributions</a:t>
            </a:r>
            <a:endParaRPr/>
          </a:p>
        </p:txBody>
      </p:sp>
      <p:sp>
        <p:nvSpPr>
          <p:cNvPr id="146" name="Google Shape;146;p27"/>
          <p:cNvSpPr txBox="1">
            <a:spLocks noGrp="1"/>
          </p:cNvSpPr>
          <p:nvPr>
            <p:ph type="body" idx="1"/>
          </p:nvPr>
        </p:nvSpPr>
        <p:spPr>
          <a:xfrm>
            <a:off x="311700" y="881575"/>
            <a:ext cx="8520600" cy="4123200"/>
          </a:xfrm>
          <a:prstGeom prst="rect">
            <a:avLst/>
          </a:prstGeom>
        </p:spPr>
        <p:txBody>
          <a:bodyPr spcFirstLastPara="1" wrap="square" lIns="91425" tIns="91425" rIns="91425" bIns="91425" anchor="t" anchorCtr="0">
            <a:noAutofit/>
          </a:bodyPr>
          <a:lstStyle/>
          <a:p>
            <a:pPr marL="457200" lvl="0" indent="-325966" algn="l" rtl="0">
              <a:lnSpc>
                <a:spcPct val="150000"/>
              </a:lnSpc>
              <a:spcBef>
                <a:spcPts val="0"/>
              </a:spcBef>
              <a:spcAft>
                <a:spcPts val="0"/>
              </a:spcAft>
              <a:buClr>
                <a:schemeClr val="dk1"/>
              </a:buClr>
              <a:buSzPts val="1533"/>
              <a:buFont typeface="Times New Roman"/>
              <a:buChar char="●"/>
            </a:pPr>
            <a:r>
              <a:rPr lang="en" sz="1533">
                <a:solidFill>
                  <a:schemeClr val="dk1"/>
                </a:solidFill>
                <a:latin typeface="Times New Roman"/>
                <a:ea typeface="Times New Roman"/>
                <a:cs typeface="Times New Roman"/>
                <a:sym typeface="Times New Roman"/>
              </a:rPr>
              <a:t>Shengyao Xu: </a:t>
            </a:r>
            <a:endParaRPr sz="1533">
              <a:solidFill>
                <a:schemeClr val="dk1"/>
              </a:solidFill>
              <a:latin typeface="Times New Roman"/>
              <a:ea typeface="Times New Roman"/>
              <a:cs typeface="Times New Roman"/>
              <a:sym typeface="Times New Roman"/>
            </a:endParaRPr>
          </a:p>
          <a:p>
            <a:pPr marL="457200" lvl="0" indent="0" algn="l" rtl="0">
              <a:lnSpc>
                <a:spcPct val="150000"/>
              </a:lnSpc>
              <a:spcBef>
                <a:spcPts val="0"/>
              </a:spcBef>
              <a:spcAft>
                <a:spcPts val="0"/>
              </a:spcAft>
              <a:buNone/>
            </a:pPr>
            <a:r>
              <a:rPr lang="en" sz="1533">
                <a:solidFill>
                  <a:schemeClr val="dk1"/>
                </a:solidFill>
                <a:latin typeface="Times New Roman"/>
                <a:ea typeface="Times New Roman"/>
                <a:cs typeface="Times New Roman"/>
                <a:sym typeface="Times New Roman"/>
              </a:rPr>
              <a:t>Shengyao contributed to data cleaning, EDA, and SARIMA model in syringe requests. He supports the final deliverable by providing data-driven insights for policy recommendations and aiding forecasting efforts helping identify priority intervention areas, improve response efficiency, and support strategic planning for public health initiatives.</a:t>
            </a:r>
            <a:endParaRPr sz="1533">
              <a:solidFill>
                <a:schemeClr val="dk1"/>
              </a:solidFill>
              <a:latin typeface="Times New Roman"/>
              <a:ea typeface="Times New Roman"/>
              <a:cs typeface="Times New Roman"/>
              <a:sym typeface="Times New Roman"/>
            </a:endParaRPr>
          </a:p>
          <a:p>
            <a:pPr marL="457200" lvl="0" indent="-325966" algn="l" rtl="0">
              <a:lnSpc>
                <a:spcPct val="150000"/>
              </a:lnSpc>
              <a:spcBef>
                <a:spcPts val="0"/>
              </a:spcBef>
              <a:spcAft>
                <a:spcPts val="0"/>
              </a:spcAft>
              <a:buClr>
                <a:schemeClr val="dk1"/>
              </a:buClr>
              <a:buSzPts val="1533"/>
              <a:buFont typeface="Times New Roman"/>
              <a:buChar char="●"/>
            </a:pPr>
            <a:r>
              <a:rPr lang="en" sz="1533">
                <a:solidFill>
                  <a:schemeClr val="dk1"/>
                </a:solidFill>
                <a:latin typeface="Times New Roman"/>
                <a:ea typeface="Times New Roman"/>
                <a:cs typeface="Times New Roman"/>
                <a:sym typeface="Times New Roman"/>
              </a:rPr>
              <a:t>Hrithick Gokul Yeddula:</a:t>
            </a:r>
            <a:endParaRPr sz="1533">
              <a:solidFill>
                <a:schemeClr val="dk1"/>
              </a:solidFill>
              <a:latin typeface="Times New Roman"/>
              <a:ea typeface="Times New Roman"/>
              <a:cs typeface="Times New Roman"/>
              <a:sym typeface="Times New Roman"/>
            </a:endParaRPr>
          </a:p>
          <a:p>
            <a:pPr marL="457200" lvl="0" indent="0" algn="l" rtl="0">
              <a:lnSpc>
                <a:spcPct val="150000"/>
              </a:lnSpc>
              <a:spcBef>
                <a:spcPts val="0"/>
              </a:spcBef>
              <a:spcAft>
                <a:spcPts val="0"/>
              </a:spcAft>
              <a:buNone/>
            </a:pPr>
            <a:r>
              <a:rPr lang="en" sz="1533">
                <a:solidFill>
                  <a:schemeClr val="dk1"/>
                </a:solidFill>
                <a:latin typeface="Times New Roman"/>
                <a:ea typeface="Times New Roman"/>
                <a:cs typeface="Times New Roman"/>
                <a:sym typeface="Times New Roman"/>
              </a:rPr>
              <a:t>Hrithick refined the parameters of the SARIMA model to enhance the accuracy of our forecasts. This involved detailed statistical analysis and model optimization. Hrithick also focused on data validation processes, ensuring the reliability and integrity of the data inputs. Additionally, He analyzed trends and patterns within the data, which helped in identifying critical intervention areas for public health planning.</a:t>
            </a:r>
            <a:endParaRPr sz="1533">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400">
              <a:solidFill>
                <a:schemeClr val="dk1"/>
              </a:solidFill>
              <a:latin typeface="Times New Roman"/>
              <a:ea typeface="Times New Roman"/>
              <a:cs typeface="Times New Roman"/>
              <a:sym typeface="Times New Roman"/>
            </a:endParaRPr>
          </a:p>
          <a:p>
            <a:pPr marL="0" lvl="0" indent="0" algn="l" rtl="0">
              <a:spcBef>
                <a:spcPts val="0"/>
              </a:spcBef>
              <a:spcAft>
                <a:spcPts val="1200"/>
              </a:spcAft>
              <a:buNone/>
            </a:pPr>
            <a:endParaRPr sz="14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1642</Words>
  <Application>Microsoft Office PowerPoint</Application>
  <PresentationFormat>On-screen Show (16:9)</PresentationFormat>
  <Paragraphs>123</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Times New Roman</vt:lpstr>
      <vt:lpstr>Simple Light</vt:lpstr>
      <vt:lpstr>ALY6980 - Midterm Presentation  Group 8 Akshay Ganesh Hanchate, Vidhi Rajeshbhai Mistry, Shengyao Xu &amp; Hrithick Gokul Yeddula Prof. Roy Wada 02/20/2025 </vt:lpstr>
      <vt:lpstr>INTRODUCTION</vt:lpstr>
      <vt:lpstr>Exploratory Data Analysis</vt:lpstr>
      <vt:lpstr>Exploratory Data Analysis</vt:lpstr>
      <vt:lpstr>Exploratory Data Analysis</vt:lpstr>
      <vt:lpstr>Exploratory Data Analysis</vt:lpstr>
      <vt:lpstr>Exploratory Data Analysis</vt:lpstr>
      <vt:lpstr>Predictive Models</vt:lpstr>
      <vt:lpstr>K-Means Clustering</vt:lpstr>
      <vt:lpstr>SARIMA Time-Series Forecasting</vt:lpstr>
      <vt:lpstr>Next Steps</vt:lpstr>
      <vt:lpstr>Conclusion</vt:lpstr>
      <vt:lpstr>References</vt:lpstr>
      <vt:lpstr>Contribution</vt:lpstr>
      <vt:lpstr>Contributions</vt:lpstr>
      <vt:lpstr>Contributions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圣尧 徐</cp:lastModifiedBy>
  <cp:revision>1</cp:revision>
  <dcterms:modified xsi:type="dcterms:W3CDTF">2025-02-21T03:17:10Z</dcterms:modified>
</cp:coreProperties>
</file>