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300" y="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d97ac3b89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d97ac3b89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41960b0393_1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41960b0393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41960b039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41960b039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41960b0393_1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41960b0393_1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41960b0393_1_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41960b0393_1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41960b0393_1_2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41960b0393_1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41960b0393_1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41960b0393_1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41960b0393_1_1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41960b0393_1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41960b0393_1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41960b0393_1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41960b0393_1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41960b0393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d97872c5ab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d97872c5ab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d97872c5ab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d97872c5ab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d97872c5ab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d97872c5ab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4239e03de1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4239e03de1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423dd6f098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423dd6f098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d97ac3b89f_3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d97ac3b89f_3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d97ac3b89f_3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2d97ac3b89f_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41960b0393_1_3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41960b0393_1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hyperlink" Target="https://app.powerbi.com/links/YyIsLznIq1?ctid=a8eec281-aaa3-4dae-ac9b-9a398b9215e7&amp;pbi_source=linkShare&amp;bookmarkGuid=220104ac-302d-4398-a9e6-da34e27b8854"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data.boston.gov/dataset/311-service-requests" TargetMode="External"/><Relationship Id="rId7" Type="http://schemas.openxmlformats.org/officeDocument/2006/relationships/hyperlink" Target="https://boston.maps.arcgis.com/home/item.html?id=1b8f68085e614f598bb581c7558c8e5e"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hyperlink" Target="https://data.boston.gov/dataset/open-space" TargetMode="External"/><Relationship Id="rId5" Type="http://schemas.openxmlformats.org/officeDocument/2006/relationships/hyperlink" Target="https://data.boston.gov/dataset/non-public-schools" TargetMode="External"/><Relationship Id="rId4" Type="http://schemas.openxmlformats.org/officeDocument/2006/relationships/hyperlink" Target="https://data.boston.gov/dataset/public-schools" TargetMode="External"/><Relationship Id="rId9" Type="http://schemas.openxmlformats.org/officeDocument/2006/relationships/image" Target="../media/image2.jpg"/></Relationships>
</file>

<file path=ppt/slides/_rels/slide19.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mailto:xu.shengy@northeastern.edu" TargetMode="External"/><Relationship Id="rId7"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mailto:yeddula.hr@northeastern.edu" TargetMode="External"/><Relationship Id="rId5" Type="http://schemas.openxmlformats.org/officeDocument/2006/relationships/hyperlink" Target="mailto:mistry.vi@northeastern.edu" TargetMode="External"/><Relationship Id="rId4" Type="http://schemas.openxmlformats.org/officeDocument/2006/relationships/hyperlink" Target="mailto:hanchate.ak@northeastern.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1508300"/>
            <a:ext cx="8520600" cy="317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088" b="1" dirty="0">
                <a:latin typeface="Times New Roman"/>
                <a:ea typeface="Times New Roman"/>
                <a:cs typeface="Times New Roman"/>
                <a:sym typeface="Times New Roman"/>
              </a:rPr>
              <a:t>ALY6980 – </a:t>
            </a:r>
            <a:r>
              <a:rPr lang="en-US" altLang="zh-CN" sz="3088" b="1" dirty="0">
                <a:latin typeface="Times New Roman"/>
                <a:ea typeface="Times New Roman"/>
                <a:cs typeface="Times New Roman"/>
                <a:sym typeface="Times New Roman"/>
              </a:rPr>
              <a:t>Capstone Project</a:t>
            </a:r>
            <a:r>
              <a:rPr lang="en" sz="3088" b="1" dirty="0">
                <a:latin typeface="Times New Roman"/>
                <a:ea typeface="Times New Roman"/>
                <a:cs typeface="Times New Roman"/>
                <a:sym typeface="Times New Roman"/>
              </a:rPr>
              <a:t> Presentation</a:t>
            </a:r>
            <a:endParaRPr sz="3088" b="1" dirty="0">
              <a:latin typeface="Times New Roman"/>
              <a:ea typeface="Times New Roman"/>
              <a:cs typeface="Times New Roman"/>
              <a:sym typeface="Times New Roman"/>
            </a:endParaRPr>
          </a:p>
          <a:p>
            <a:pPr marL="0" lvl="0" indent="0" algn="ctr" rtl="0">
              <a:spcBef>
                <a:spcPts val="0"/>
              </a:spcBef>
              <a:spcAft>
                <a:spcPts val="0"/>
              </a:spcAft>
              <a:buNone/>
            </a:pPr>
            <a:r>
              <a:rPr lang="en" sz="3088" b="1" dirty="0">
                <a:latin typeface="Times New Roman"/>
                <a:ea typeface="Times New Roman"/>
                <a:cs typeface="Times New Roman"/>
                <a:sym typeface="Times New Roman"/>
              </a:rPr>
              <a:t>Boston 311 Syringe Request Dashboard</a:t>
            </a:r>
            <a:endParaRPr sz="3088" b="1" dirty="0">
              <a:latin typeface="Times New Roman"/>
              <a:ea typeface="Times New Roman"/>
              <a:cs typeface="Times New Roman"/>
              <a:sym typeface="Times New Roman"/>
            </a:endParaRPr>
          </a:p>
          <a:p>
            <a:pPr marL="0" lvl="0" indent="0" algn="ctr" rtl="0">
              <a:lnSpc>
                <a:spcPct val="150000"/>
              </a:lnSpc>
              <a:spcBef>
                <a:spcPts val="0"/>
              </a:spcBef>
              <a:spcAft>
                <a:spcPts val="0"/>
              </a:spcAft>
              <a:buClr>
                <a:schemeClr val="dk1"/>
              </a:buClr>
              <a:buSzPts val="1100"/>
              <a:buFont typeface="Arial"/>
              <a:buNone/>
            </a:pPr>
            <a:endParaRPr sz="1733" dirty="0">
              <a:latin typeface="Times New Roman"/>
              <a:ea typeface="Times New Roman"/>
              <a:cs typeface="Times New Roman"/>
              <a:sym typeface="Times New Roman"/>
            </a:endParaRPr>
          </a:p>
          <a:p>
            <a:pPr marL="0" lvl="0" indent="0" algn="ctr" rtl="0">
              <a:lnSpc>
                <a:spcPct val="150000"/>
              </a:lnSpc>
              <a:spcBef>
                <a:spcPts val="0"/>
              </a:spcBef>
              <a:spcAft>
                <a:spcPts val="0"/>
              </a:spcAft>
              <a:buClr>
                <a:schemeClr val="dk1"/>
              </a:buClr>
              <a:buSzPts val="1100"/>
              <a:buFont typeface="Arial"/>
              <a:buNone/>
            </a:pPr>
            <a:r>
              <a:rPr lang="en" sz="1733" dirty="0">
                <a:latin typeface="Times New Roman"/>
                <a:ea typeface="Times New Roman"/>
                <a:cs typeface="Times New Roman"/>
                <a:sym typeface="Times New Roman"/>
              </a:rPr>
              <a:t>Prof. Roy Wada </a:t>
            </a:r>
            <a:endParaRPr sz="1733" dirty="0">
              <a:latin typeface="Times New Roman"/>
              <a:ea typeface="Times New Roman"/>
              <a:cs typeface="Times New Roman"/>
              <a:sym typeface="Times New Roman"/>
            </a:endParaRPr>
          </a:p>
          <a:p>
            <a:pPr marL="0" lvl="0" indent="0" algn="ctr" rtl="0">
              <a:lnSpc>
                <a:spcPct val="150000"/>
              </a:lnSpc>
              <a:spcBef>
                <a:spcPts val="0"/>
              </a:spcBef>
              <a:spcAft>
                <a:spcPts val="0"/>
              </a:spcAft>
              <a:buClr>
                <a:schemeClr val="dk1"/>
              </a:buClr>
              <a:buSzPts val="1100"/>
              <a:buFont typeface="Arial"/>
              <a:buNone/>
            </a:pPr>
            <a:r>
              <a:rPr lang="en" sz="1733" dirty="0">
                <a:latin typeface="Times New Roman"/>
                <a:ea typeface="Times New Roman"/>
                <a:cs typeface="Times New Roman"/>
                <a:sym typeface="Times New Roman"/>
              </a:rPr>
              <a:t>Group 8: Shengyao Xu, Akshay Ganesh Hanchate, </a:t>
            </a:r>
            <a:endParaRPr sz="1733" dirty="0">
              <a:latin typeface="Times New Roman"/>
              <a:ea typeface="Times New Roman"/>
              <a:cs typeface="Times New Roman"/>
              <a:sym typeface="Times New Roman"/>
            </a:endParaRPr>
          </a:p>
          <a:p>
            <a:pPr marL="0" lvl="0" indent="0" algn="ctr" rtl="0">
              <a:lnSpc>
                <a:spcPct val="150000"/>
              </a:lnSpc>
              <a:spcBef>
                <a:spcPts val="0"/>
              </a:spcBef>
              <a:spcAft>
                <a:spcPts val="0"/>
              </a:spcAft>
              <a:buClr>
                <a:schemeClr val="dk1"/>
              </a:buClr>
              <a:buSzPts val="1100"/>
              <a:buFont typeface="Arial"/>
              <a:buNone/>
            </a:pPr>
            <a:r>
              <a:rPr lang="en" sz="1733" dirty="0">
                <a:latin typeface="Times New Roman"/>
                <a:ea typeface="Times New Roman"/>
                <a:cs typeface="Times New Roman"/>
                <a:sym typeface="Times New Roman"/>
              </a:rPr>
              <a:t>Vidhi Rajeshbhai Mistry &amp; Hrithick Gokul Yeddula</a:t>
            </a:r>
            <a:endParaRPr sz="1733" dirty="0">
              <a:latin typeface="Times New Roman"/>
              <a:ea typeface="Times New Roman"/>
              <a:cs typeface="Times New Roman"/>
              <a:sym typeface="Times New Roman"/>
            </a:endParaRPr>
          </a:p>
          <a:p>
            <a:pPr marL="0" lvl="0" indent="0" algn="ctr" rtl="0">
              <a:lnSpc>
                <a:spcPct val="150000"/>
              </a:lnSpc>
              <a:spcBef>
                <a:spcPts val="0"/>
              </a:spcBef>
              <a:spcAft>
                <a:spcPts val="0"/>
              </a:spcAft>
              <a:buNone/>
            </a:pPr>
            <a:r>
              <a:rPr lang="en" sz="1733" dirty="0">
                <a:latin typeface="Times New Roman"/>
                <a:ea typeface="Times New Roman"/>
                <a:cs typeface="Times New Roman"/>
                <a:sym typeface="Times New Roman"/>
              </a:rPr>
              <a:t>03/20/2025 </a:t>
            </a:r>
            <a:endParaRPr sz="2533" dirty="0"/>
          </a:p>
        </p:txBody>
      </p:sp>
      <p:pic>
        <p:nvPicPr>
          <p:cNvPr id="55" name="Google Shape;55;p13"/>
          <p:cNvPicPr preferRelativeResize="0"/>
          <p:nvPr/>
        </p:nvPicPr>
        <p:blipFill>
          <a:blip r:embed="rId3">
            <a:alphaModFix/>
          </a:blip>
          <a:stretch>
            <a:fillRect/>
          </a:stretch>
        </p:blipFill>
        <p:spPr>
          <a:xfrm>
            <a:off x="3132550" y="384777"/>
            <a:ext cx="1277625" cy="1277625"/>
          </a:xfrm>
          <a:prstGeom prst="rect">
            <a:avLst/>
          </a:prstGeom>
          <a:noFill/>
          <a:ln>
            <a:noFill/>
          </a:ln>
        </p:spPr>
      </p:pic>
      <p:pic>
        <p:nvPicPr>
          <p:cNvPr id="56" name="Google Shape;56;p13" title="Weixin Screenshot_20250318182228.png"/>
          <p:cNvPicPr preferRelativeResize="0"/>
          <p:nvPr/>
        </p:nvPicPr>
        <p:blipFill>
          <a:blip r:embed="rId4">
            <a:alphaModFix/>
          </a:blip>
          <a:stretch>
            <a:fillRect/>
          </a:stretch>
        </p:blipFill>
        <p:spPr>
          <a:xfrm>
            <a:off x="4572000" y="310055"/>
            <a:ext cx="1427018" cy="14270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ctrTitle"/>
          </p:nvPr>
        </p:nvSpPr>
        <p:spPr>
          <a:xfrm>
            <a:off x="1307100" y="168200"/>
            <a:ext cx="6529800" cy="58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980"/>
              <a:t>INTRODUCTION</a:t>
            </a:r>
            <a:endParaRPr sz="2980"/>
          </a:p>
        </p:txBody>
      </p:sp>
      <p:sp>
        <p:nvSpPr>
          <p:cNvPr id="62" name="Google Shape;62;p14"/>
          <p:cNvSpPr txBox="1">
            <a:spLocks noGrp="1"/>
          </p:cNvSpPr>
          <p:nvPr>
            <p:ph type="subTitle" idx="1"/>
          </p:nvPr>
        </p:nvSpPr>
        <p:spPr>
          <a:xfrm>
            <a:off x="331475" y="550328"/>
            <a:ext cx="8613000" cy="44223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en" sz="1800" b="1" dirty="0">
                <a:solidFill>
                  <a:schemeClr val="dk1"/>
                </a:solidFill>
              </a:rPr>
              <a:t>Boston 311 Syringe Request Dashboard</a:t>
            </a:r>
            <a:endParaRPr sz="1800" b="1" dirty="0">
              <a:solidFill>
                <a:schemeClr val="dk1"/>
              </a:solidFill>
            </a:endParaRPr>
          </a:p>
          <a:p>
            <a:pPr marL="0" lvl="0" indent="0" algn="just" rtl="0">
              <a:lnSpc>
                <a:spcPct val="115000"/>
              </a:lnSpc>
              <a:spcBef>
                <a:spcPts val="1200"/>
              </a:spcBef>
              <a:spcAft>
                <a:spcPts val="0"/>
              </a:spcAft>
              <a:buNone/>
            </a:pPr>
            <a:r>
              <a:rPr lang="en" sz="1800" dirty="0">
                <a:solidFill>
                  <a:schemeClr val="dk1"/>
                </a:solidFill>
              </a:rPr>
              <a:t>The opioid crisis is a major public health concern in Boston. This project analyzes data from Boston’s 311 service requests to track syringe disposal requests. Our goal is to provide insights for better resource allocation and harm reduction strategies.</a:t>
            </a:r>
            <a:endParaRPr sz="1800" dirty="0">
              <a:solidFill>
                <a:schemeClr val="dk1"/>
              </a:solidFill>
            </a:endParaRPr>
          </a:p>
          <a:p>
            <a:pPr marL="0" lvl="0" indent="0" algn="just" rtl="0">
              <a:lnSpc>
                <a:spcPct val="115000"/>
              </a:lnSpc>
              <a:spcBef>
                <a:spcPts val="1200"/>
              </a:spcBef>
              <a:spcAft>
                <a:spcPts val="0"/>
              </a:spcAft>
              <a:buNone/>
            </a:pPr>
            <a:r>
              <a:rPr lang="en" sz="1800" b="1" dirty="0">
                <a:solidFill>
                  <a:schemeClr val="dk1"/>
                </a:solidFill>
              </a:rPr>
              <a:t>Key Objectives:</a:t>
            </a:r>
            <a:endParaRPr sz="1800" b="1" dirty="0">
              <a:solidFill>
                <a:schemeClr val="dk1"/>
              </a:solidFill>
            </a:endParaRPr>
          </a:p>
          <a:p>
            <a:pPr marL="457200" lvl="0" indent="-342900" algn="just" rtl="0">
              <a:lnSpc>
                <a:spcPct val="115000"/>
              </a:lnSpc>
              <a:spcBef>
                <a:spcPts val="1200"/>
              </a:spcBef>
              <a:spcAft>
                <a:spcPts val="0"/>
              </a:spcAft>
              <a:buClr>
                <a:schemeClr val="dk1"/>
              </a:buClr>
              <a:buSzPts val="1800"/>
              <a:buChar char="●"/>
            </a:pPr>
            <a:r>
              <a:rPr lang="en" sz="1800" dirty="0">
                <a:solidFill>
                  <a:schemeClr val="dk1"/>
                </a:solidFill>
              </a:rPr>
              <a:t>Identify high-risk areas with frequent syringe disposal requests.</a:t>
            </a:r>
            <a:endParaRPr sz="1800" dirty="0">
              <a:solidFill>
                <a:schemeClr val="dk1"/>
              </a:solidFill>
            </a:endParaRPr>
          </a:p>
          <a:p>
            <a:pPr marL="457200" lvl="0" indent="-342900" algn="just" rtl="0">
              <a:lnSpc>
                <a:spcPct val="115000"/>
              </a:lnSpc>
              <a:spcBef>
                <a:spcPts val="0"/>
              </a:spcBef>
              <a:spcAft>
                <a:spcPts val="0"/>
              </a:spcAft>
              <a:buClr>
                <a:schemeClr val="dk1"/>
              </a:buClr>
              <a:buSzPts val="1800"/>
              <a:buChar char="●"/>
            </a:pPr>
            <a:r>
              <a:rPr lang="en" sz="1800" dirty="0">
                <a:solidFill>
                  <a:schemeClr val="dk1"/>
                </a:solidFill>
              </a:rPr>
              <a:t>Use data-driven approaches to improve public health responses.</a:t>
            </a:r>
            <a:endParaRPr sz="1800" dirty="0">
              <a:solidFill>
                <a:schemeClr val="dk1"/>
              </a:solidFill>
            </a:endParaRPr>
          </a:p>
          <a:p>
            <a:pPr marL="457200" lvl="0" indent="-342900" algn="just" rtl="0">
              <a:lnSpc>
                <a:spcPct val="115000"/>
              </a:lnSpc>
              <a:spcBef>
                <a:spcPts val="0"/>
              </a:spcBef>
              <a:spcAft>
                <a:spcPts val="0"/>
              </a:spcAft>
              <a:buClr>
                <a:schemeClr val="dk1"/>
              </a:buClr>
              <a:buSzPts val="1800"/>
              <a:buChar char="●"/>
            </a:pPr>
            <a:r>
              <a:rPr lang="en" sz="1800" dirty="0">
                <a:solidFill>
                  <a:schemeClr val="dk1"/>
                </a:solidFill>
              </a:rPr>
              <a:t>Apply predictive modeling to forecast future trends and guide policy decisions.</a:t>
            </a:r>
            <a:endParaRPr sz="1800" dirty="0">
              <a:solidFill>
                <a:schemeClr val="dk1"/>
              </a:solidFill>
            </a:endParaRPr>
          </a:p>
          <a:p>
            <a:pPr marL="0" lvl="0" indent="0" algn="just" rtl="0">
              <a:lnSpc>
                <a:spcPct val="115000"/>
              </a:lnSpc>
              <a:spcBef>
                <a:spcPts val="1200"/>
              </a:spcBef>
              <a:spcAft>
                <a:spcPts val="1200"/>
              </a:spcAft>
              <a:buNone/>
            </a:pPr>
            <a:r>
              <a:rPr lang="en" sz="1800" dirty="0">
                <a:solidFill>
                  <a:schemeClr val="dk1"/>
                </a:solidFill>
              </a:rPr>
              <a:t>By leveraging advanced analytics and Power BI dashboards, we aim to support evidence-based decision-making for safer communities.</a:t>
            </a:r>
            <a:endParaRPr sz="2200" b="1" dirty="0">
              <a:solidFill>
                <a:schemeClr val="dk1"/>
              </a:solidFill>
            </a:endParaRPr>
          </a:p>
        </p:txBody>
      </p:sp>
      <p:pic>
        <p:nvPicPr>
          <p:cNvPr id="63" name="Google Shape;63;p14"/>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64" name="Google Shape;64;p14"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Methods</a:t>
            </a:r>
            <a:endParaRPr/>
          </a:p>
        </p:txBody>
      </p:sp>
      <p:sp>
        <p:nvSpPr>
          <p:cNvPr id="70" name="Google Shape;70;p15"/>
          <p:cNvSpPr/>
          <p:nvPr/>
        </p:nvSpPr>
        <p:spPr>
          <a:xfrm>
            <a:off x="3807875" y="657125"/>
            <a:ext cx="1873200" cy="4533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Manual Data Download</a:t>
            </a:r>
            <a:endParaRPr b="1">
              <a:solidFill>
                <a:schemeClr val="lt1"/>
              </a:solidFill>
            </a:endParaRPr>
          </a:p>
        </p:txBody>
      </p:sp>
      <p:sp>
        <p:nvSpPr>
          <p:cNvPr id="71" name="Google Shape;71;p15"/>
          <p:cNvSpPr/>
          <p:nvPr/>
        </p:nvSpPr>
        <p:spPr>
          <a:xfrm>
            <a:off x="6502275" y="24633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Auto API Data Download</a:t>
            </a:r>
            <a:endParaRPr/>
          </a:p>
        </p:txBody>
      </p:sp>
      <p:sp>
        <p:nvSpPr>
          <p:cNvPr id="72" name="Google Shape;72;p15"/>
          <p:cNvSpPr/>
          <p:nvPr/>
        </p:nvSpPr>
        <p:spPr>
          <a:xfrm>
            <a:off x="3807875" y="15602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Data Cleaning </a:t>
            </a:r>
            <a:endParaRPr/>
          </a:p>
          <a:p>
            <a:pPr marL="0" lvl="0" indent="0" algn="ctr" rtl="0">
              <a:spcBef>
                <a:spcPts val="0"/>
              </a:spcBef>
              <a:spcAft>
                <a:spcPts val="0"/>
              </a:spcAft>
              <a:buNone/>
            </a:pPr>
            <a:r>
              <a:rPr lang="en"/>
              <a:t>for EDA</a:t>
            </a:r>
            <a:endParaRPr/>
          </a:p>
        </p:txBody>
      </p:sp>
      <p:cxnSp>
        <p:nvCxnSpPr>
          <p:cNvPr id="73" name="Google Shape;73;p15"/>
          <p:cNvCxnSpPr>
            <a:stCxn id="70" idx="2"/>
            <a:endCxn id="72" idx="0"/>
          </p:cNvCxnSpPr>
          <p:nvPr/>
        </p:nvCxnSpPr>
        <p:spPr>
          <a:xfrm>
            <a:off x="4744475" y="11104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74" name="Google Shape;74;p15"/>
          <p:cNvSpPr/>
          <p:nvPr/>
        </p:nvSpPr>
        <p:spPr>
          <a:xfrm>
            <a:off x="3807875" y="24633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Exploratory Data</a:t>
            </a:r>
            <a:endParaRPr/>
          </a:p>
          <a:p>
            <a:pPr marL="0" lvl="0" indent="0" algn="ctr" rtl="0">
              <a:spcBef>
                <a:spcPts val="0"/>
              </a:spcBef>
              <a:spcAft>
                <a:spcPts val="0"/>
              </a:spcAft>
              <a:buNone/>
            </a:pPr>
            <a:r>
              <a:rPr lang="en"/>
              <a:t>Analysis</a:t>
            </a:r>
            <a:endParaRPr/>
          </a:p>
        </p:txBody>
      </p:sp>
      <p:cxnSp>
        <p:nvCxnSpPr>
          <p:cNvPr id="75" name="Google Shape;75;p15"/>
          <p:cNvCxnSpPr/>
          <p:nvPr/>
        </p:nvCxnSpPr>
        <p:spPr>
          <a:xfrm>
            <a:off x="4744475" y="20135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76" name="Google Shape;76;p15"/>
          <p:cNvSpPr/>
          <p:nvPr/>
        </p:nvSpPr>
        <p:spPr>
          <a:xfrm>
            <a:off x="3807875" y="33664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Data Aggregation </a:t>
            </a:r>
            <a:endParaRPr>
              <a:solidFill>
                <a:schemeClr val="dk1"/>
              </a:solidFill>
            </a:endParaRPr>
          </a:p>
          <a:p>
            <a:pPr marL="0" lvl="0" indent="0" algn="ctr" rtl="0">
              <a:spcBef>
                <a:spcPts val="0"/>
              </a:spcBef>
              <a:spcAft>
                <a:spcPts val="0"/>
              </a:spcAft>
              <a:buNone/>
            </a:pPr>
            <a:r>
              <a:rPr lang="en">
                <a:solidFill>
                  <a:schemeClr val="dk1"/>
                </a:solidFill>
              </a:rPr>
              <a:t>for Power BI</a:t>
            </a:r>
            <a:endParaRPr>
              <a:solidFill>
                <a:schemeClr val="dk1"/>
              </a:solidFill>
            </a:endParaRPr>
          </a:p>
        </p:txBody>
      </p:sp>
      <p:cxnSp>
        <p:nvCxnSpPr>
          <p:cNvPr id="77" name="Google Shape;77;p15"/>
          <p:cNvCxnSpPr/>
          <p:nvPr/>
        </p:nvCxnSpPr>
        <p:spPr>
          <a:xfrm>
            <a:off x="4744475" y="29166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78" name="Google Shape;78;p15"/>
          <p:cNvCxnSpPr/>
          <p:nvPr/>
        </p:nvCxnSpPr>
        <p:spPr>
          <a:xfrm>
            <a:off x="4751825" y="3108175"/>
            <a:ext cx="2698200" cy="7500"/>
          </a:xfrm>
          <a:prstGeom prst="straightConnector1">
            <a:avLst/>
          </a:prstGeom>
          <a:noFill/>
          <a:ln w="19050" cap="flat" cmpd="sng">
            <a:solidFill>
              <a:schemeClr val="dk2"/>
            </a:solidFill>
            <a:prstDash val="solid"/>
            <a:round/>
            <a:headEnd type="none" w="med" len="med"/>
            <a:tailEnd type="none" w="med" len="med"/>
          </a:ln>
        </p:spPr>
      </p:cxnSp>
      <p:sp>
        <p:nvSpPr>
          <p:cNvPr id="79" name="Google Shape;79;p15"/>
          <p:cNvSpPr/>
          <p:nvPr/>
        </p:nvSpPr>
        <p:spPr>
          <a:xfrm>
            <a:off x="3807875" y="42695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Power BI Dashboard</a:t>
            </a:r>
            <a:endParaRPr/>
          </a:p>
        </p:txBody>
      </p:sp>
      <p:cxnSp>
        <p:nvCxnSpPr>
          <p:cNvPr id="80" name="Google Shape;80;p15"/>
          <p:cNvCxnSpPr/>
          <p:nvPr/>
        </p:nvCxnSpPr>
        <p:spPr>
          <a:xfrm>
            <a:off x="4744475" y="38197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81" name="Google Shape;81;p15"/>
          <p:cNvCxnSpPr>
            <a:stCxn id="71" idx="2"/>
          </p:cNvCxnSpPr>
          <p:nvPr/>
        </p:nvCxnSpPr>
        <p:spPr>
          <a:xfrm flipH="1">
            <a:off x="7435275" y="2916625"/>
            <a:ext cx="3600" cy="198900"/>
          </a:xfrm>
          <a:prstGeom prst="straightConnector1">
            <a:avLst/>
          </a:prstGeom>
          <a:noFill/>
          <a:ln w="19050" cap="flat" cmpd="sng">
            <a:solidFill>
              <a:schemeClr val="dk2"/>
            </a:solidFill>
            <a:prstDash val="solid"/>
            <a:round/>
            <a:headEnd type="none" w="med" len="med"/>
            <a:tailEnd type="none" w="med" len="med"/>
          </a:ln>
        </p:spPr>
      </p:cxnSp>
      <p:sp>
        <p:nvSpPr>
          <p:cNvPr id="82" name="Google Shape;82;p15"/>
          <p:cNvSpPr txBox="1"/>
          <p:nvPr/>
        </p:nvSpPr>
        <p:spPr>
          <a:xfrm>
            <a:off x="804200" y="1657675"/>
            <a:ext cx="3726900" cy="145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a:solidFill>
                  <a:schemeClr val="dk1"/>
                </a:solidFill>
              </a:rPr>
              <a:t>Work Flow of</a:t>
            </a:r>
            <a:endParaRPr sz="1800">
              <a:solidFill>
                <a:schemeClr val="dk1"/>
              </a:solidFill>
            </a:endParaRPr>
          </a:p>
          <a:p>
            <a:pPr marL="0" lvl="0" indent="0" algn="l" rtl="0">
              <a:lnSpc>
                <a:spcPct val="115000"/>
              </a:lnSpc>
              <a:spcBef>
                <a:spcPts val="1400"/>
              </a:spcBef>
              <a:spcAft>
                <a:spcPts val="0"/>
              </a:spcAft>
              <a:buNone/>
            </a:pPr>
            <a:r>
              <a:rPr lang="en" sz="1800">
                <a:solidFill>
                  <a:schemeClr val="dk1"/>
                </a:solidFill>
              </a:rPr>
              <a:t>311 Syringe Request </a:t>
            </a:r>
            <a:endParaRPr sz="1800">
              <a:solidFill>
                <a:schemeClr val="dk1"/>
              </a:solidFill>
            </a:endParaRPr>
          </a:p>
          <a:p>
            <a:pPr marL="0" lvl="0" indent="0" algn="l" rtl="0">
              <a:lnSpc>
                <a:spcPct val="115000"/>
              </a:lnSpc>
              <a:spcBef>
                <a:spcPts val="1400"/>
              </a:spcBef>
              <a:spcAft>
                <a:spcPts val="400"/>
              </a:spcAft>
              <a:buNone/>
            </a:pPr>
            <a:r>
              <a:rPr lang="en" sz="1800">
                <a:solidFill>
                  <a:schemeClr val="dk1"/>
                </a:solidFill>
              </a:rPr>
              <a:t>Dashboard Project</a:t>
            </a:r>
            <a:endParaRPr sz="1800">
              <a:solidFill>
                <a:schemeClr val="dk1"/>
              </a:solidFill>
            </a:endParaRPr>
          </a:p>
        </p:txBody>
      </p:sp>
      <p:pic>
        <p:nvPicPr>
          <p:cNvPr id="83" name="Google Shape;83;p15"/>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84" name="Google Shape;84;p15"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Data sources</a:t>
            </a:r>
            <a:endParaRPr/>
          </a:p>
        </p:txBody>
      </p:sp>
      <p:sp>
        <p:nvSpPr>
          <p:cNvPr id="90" name="Google Shape;90;p16"/>
          <p:cNvSpPr txBox="1"/>
          <p:nvPr/>
        </p:nvSpPr>
        <p:spPr>
          <a:xfrm>
            <a:off x="535150" y="782197"/>
            <a:ext cx="7903500" cy="3877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dirty="0">
                <a:solidFill>
                  <a:schemeClr val="dk2"/>
                </a:solidFill>
              </a:rPr>
              <a:t>Primary Datasets</a:t>
            </a:r>
            <a:endParaRPr sz="1800" dirty="0">
              <a:solidFill>
                <a:schemeClr val="dk2"/>
              </a:solidFill>
            </a:endParaRPr>
          </a:p>
          <a:p>
            <a:pPr marL="0" lvl="0" indent="0" algn="l" rtl="0">
              <a:lnSpc>
                <a:spcPct val="115000"/>
              </a:lnSpc>
              <a:spcBef>
                <a:spcPts val="1200"/>
              </a:spcBef>
              <a:spcAft>
                <a:spcPts val="0"/>
              </a:spcAft>
              <a:buNone/>
            </a:pPr>
            <a:r>
              <a:rPr lang="en" sz="1500" b="1" dirty="0">
                <a:solidFill>
                  <a:schemeClr val="dk1"/>
                </a:solidFill>
              </a:rPr>
              <a:t>   1. Boston 311 Service Requests Dataset</a:t>
            </a:r>
            <a:r>
              <a:rPr lang="en" sz="1500" dirty="0">
                <a:solidFill>
                  <a:schemeClr val="dk1"/>
                </a:solidFill>
              </a:rPr>
              <a:t> </a:t>
            </a:r>
            <a:r>
              <a:rPr lang="en" sz="1500" i="1" dirty="0">
                <a:solidFill>
                  <a:schemeClr val="dk1"/>
                </a:solidFill>
              </a:rPr>
              <a:t>(Boston.gov, 2023)</a:t>
            </a:r>
            <a:endParaRPr sz="1500" i="1" dirty="0">
              <a:solidFill>
                <a:schemeClr val="dk1"/>
              </a:solidFill>
            </a:endParaRPr>
          </a:p>
          <a:p>
            <a:pPr marL="0" lvl="0" indent="0" algn="l" rtl="0">
              <a:lnSpc>
                <a:spcPct val="115000"/>
              </a:lnSpc>
              <a:spcBef>
                <a:spcPts val="1200"/>
              </a:spcBef>
              <a:spcAft>
                <a:spcPts val="0"/>
              </a:spcAft>
              <a:buNone/>
            </a:pPr>
            <a:r>
              <a:rPr lang="en" sz="1800" dirty="0">
                <a:solidFill>
                  <a:schemeClr val="dk2"/>
                </a:solidFill>
              </a:rPr>
              <a:t>Additional Spatial Datasets</a:t>
            </a:r>
            <a:endParaRPr sz="1800" dirty="0">
              <a:solidFill>
                <a:schemeClr val="dk2"/>
              </a:solidFill>
            </a:endParaRPr>
          </a:p>
          <a:p>
            <a:pPr marL="0" lvl="0" indent="0" algn="l" rtl="0">
              <a:lnSpc>
                <a:spcPct val="115000"/>
              </a:lnSpc>
              <a:spcBef>
                <a:spcPts val="1200"/>
              </a:spcBef>
              <a:spcAft>
                <a:spcPts val="0"/>
              </a:spcAft>
              <a:buNone/>
            </a:pPr>
            <a:r>
              <a:rPr lang="en" sz="1500" b="1" dirty="0">
                <a:solidFill>
                  <a:schemeClr val="dk1"/>
                </a:solidFill>
              </a:rPr>
              <a:t>   2. Boston Property Parcels Dataset</a:t>
            </a:r>
            <a:r>
              <a:rPr lang="en" sz="1500" dirty="0">
                <a:solidFill>
                  <a:schemeClr val="dk1"/>
                </a:solidFill>
              </a:rPr>
              <a:t> </a:t>
            </a:r>
            <a:r>
              <a:rPr lang="en" sz="1500" i="1" dirty="0">
                <a:solidFill>
                  <a:schemeClr val="dk1"/>
                </a:solidFill>
              </a:rPr>
              <a:t>(Boston Planning &amp; Development Agency, 2023)</a:t>
            </a:r>
            <a:endParaRPr sz="1500" i="1" dirty="0">
              <a:solidFill>
                <a:schemeClr val="dk1"/>
              </a:solidFill>
            </a:endParaRPr>
          </a:p>
          <a:p>
            <a:pPr marL="0" lvl="0" indent="0" algn="l" rtl="0">
              <a:lnSpc>
                <a:spcPct val="115000"/>
              </a:lnSpc>
              <a:spcBef>
                <a:spcPts val="1200"/>
              </a:spcBef>
              <a:spcAft>
                <a:spcPts val="0"/>
              </a:spcAft>
              <a:buNone/>
            </a:pPr>
            <a:r>
              <a:rPr lang="en" sz="1500" b="1" dirty="0">
                <a:solidFill>
                  <a:schemeClr val="dk1"/>
                </a:solidFill>
              </a:rPr>
              <a:t>   3. Massachusetts ZIP Code Boundaries</a:t>
            </a:r>
            <a:r>
              <a:rPr lang="en" sz="1500" dirty="0">
                <a:solidFill>
                  <a:schemeClr val="dk1"/>
                </a:solidFill>
              </a:rPr>
              <a:t> </a:t>
            </a:r>
            <a:r>
              <a:rPr lang="en" sz="1500" i="1" dirty="0">
                <a:solidFill>
                  <a:schemeClr val="dk1"/>
                </a:solidFill>
              </a:rPr>
              <a:t>(MassGIS, 2023)</a:t>
            </a:r>
            <a:endParaRPr sz="1500" i="1" dirty="0">
              <a:solidFill>
                <a:schemeClr val="dk1"/>
              </a:solidFill>
            </a:endParaRPr>
          </a:p>
          <a:p>
            <a:pPr marL="0" lvl="0" indent="0" algn="l" rtl="0">
              <a:lnSpc>
                <a:spcPct val="115000"/>
              </a:lnSpc>
              <a:spcBef>
                <a:spcPts val="1200"/>
              </a:spcBef>
              <a:spcAft>
                <a:spcPts val="0"/>
              </a:spcAft>
              <a:buNone/>
            </a:pPr>
            <a:r>
              <a:rPr lang="en" sz="1500" i="1" dirty="0">
                <a:solidFill>
                  <a:schemeClr val="dk1"/>
                </a:solidFill>
              </a:rPr>
              <a:t> </a:t>
            </a:r>
            <a:r>
              <a:rPr lang="en" sz="1500" b="1" dirty="0">
                <a:solidFill>
                  <a:schemeClr val="dk1"/>
                </a:solidFill>
              </a:rPr>
              <a:t>  4. Boston City Council Districts</a:t>
            </a:r>
            <a:r>
              <a:rPr lang="en" sz="1500" dirty="0">
                <a:solidFill>
                  <a:schemeClr val="dk1"/>
                </a:solidFill>
              </a:rPr>
              <a:t> </a:t>
            </a:r>
            <a:r>
              <a:rPr lang="en" sz="1500" i="1" dirty="0">
                <a:solidFill>
                  <a:schemeClr val="dk1"/>
                </a:solidFill>
              </a:rPr>
              <a:t>(Boston.gov, 2023)</a:t>
            </a:r>
            <a:endParaRPr sz="1500" i="1" dirty="0">
              <a:solidFill>
                <a:schemeClr val="dk1"/>
              </a:solidFill>
            </a:endParaRPr>
          </a:p>
          <a:p>
            <a:pPr marL="0" lvl="0" indent="0" algn="l" rtl="0">
              <a:lnSpc>
                <a:spcPct val="115000"/>
              </a:lnSpc>
              <a:spcBef>
                <a:spcPts val="1200"/>
              </a:spcBef>
              <a:spcAft>
                <a:spcPts val="0"/>
              </a:spcAft>
              <a:buNone/>
            </a:pPr>
            <a:r>
              <a:rPr lang="en" sz="1500" i="1" dirty="0">
                <a:solidFill>
                  <a:schemeClr val="dk1"/>
                </a:solidFill>
              </a:rPr>
              <a:t>  </a:t>
            </a:r>
            <a:r>
              <a:rPr lang="en" sz="1500" b="1" dirty="0">
                <a:solidFill>
                  <a:schemeClr val="dk1"/>
                </a:solidFill>
              </a:rPr>
              <a:t> 5. Boston Public Schools Dataset</a:t>
            </a:r>
            <a:r>
              <a:rPr lang="en" sz="1500" dirty="0">
                <a:solidFill>
                  <a:schemeClr val="dk1"/>
                </a:solidFill>
              </a:rPr>
              <a:t> </a:t>
            </a:r>
            <a:r>
              <a:rPr lang="en" sz="1500" i="1" dirty="0">
                <a:solidFill>
                  <a:schemeClr val="dk1"/>
                </a:solidFill>
              </a:rPr>
              <a:t>(Boston.gov, 2023a)</a:t>
            </a:r>
            <a:endParaRPr sz="1500" i="1" dirty="0">
              <a:solidFill>
                <a:schemeClr val="dk1"/>
              </a:solidFill>
            </a:endParaRPr>
          </a:p>
          <a:p>
            <a:pPr marL="0" lvl="0" indent="0" algn="l" rtl="0">
              <a:lnSpc>
                <a:spcPct val="115000"/>
              </a:lnSpc>
              <a:spcBef>
                <a:spcPts val="1200"/>
              </a:spcBef>
              <a:spcAft>
                <a:spcPts val="0"/>
              </a:spcAft>
              <a:buNone/>
            </a:pPr>
            <a:r>
              <a:rPr lang="en" sz="1500" i="1" dirty="0">
                <a:solidFill>
                  <a:schemeClr val="dk1"/>
                </a:solidFill>
              </a:rPr>
              <a:t>   </a:t>
            </a:r>
            <a:r>
              <a:rPr lang="en" sz="1500" b="1" dirty="0">
                <a:solidFill>
                  <a:schemeClr val="dk1"/>
                </a:solidFill>
              </a:rPr>
              <a:t>6. Boston Non-Public Schools Dataset</a:t>
            </a:r>
            <a:r>
              <a:rPr lang="en" sz="1500" dirty="0">
                <a:solidFill>
                  <a:schemeClr val="dk1"/>
                </a:solidFill>
              </a:rPr>
              <a:t> </a:t>
            </a:r>
            <a:r>
              <a:rPr lang="en" sz="1500" i="1" dirty="0">
                <a:solidFill>
                  <a:schemeClr val="dk1"/>
                </a:solidFill>
              </a:rPr>
              <a:t>(Boston.gov, 2023b)</a:t>
            </a:r>
            <a:endParaRPr sz="1500" i="1" dirty="0">
              <a:solidFill>
                <a:schemeClr val="dk1"/>
              </a:solidFill>
            </a:endParaRPr>
          </a:p>
          <a:p>
            <a:pPr marL="0" lvl="0" indent="0" algn="l" rtl="0">
              <a:lnSpc>
                <a:spcPct val="115000"/>
              </a:lnSpc>
              <a:spcBef>
                <a:spcPts val="1200"/>
              </a:spcBef>
              <a:spcAft>
                <a:spcPts val="1200"/>
              </a:spcAft>
              <a:buNone/>
            </a:pPr>
            <a:r>
              <a:rPr lang="en" sz="1500" i="1" dirty="0">
                <a:solidFill>
                  <a:schemeClr val="dk1"/>
                </a:solidFill>
              </a:rPr>
              <a:t>  </a:t>
            </a:r>
            <a:r>
              <a:rPr lang="en" sz="1500" b="1" dirty="0">
                <a:solidFill>
                  <a:schemeClr val="dk1"/>
                </a:solidFill>
              </a:rPr>
              <a:t> 7. Boston Open Spaces Dataset</a:t>
            </a:r>
            <a:r>
              <a:rPr lang="en" sz="1500" dirty="0">
                <a:solidFill>
                  <a:schemeClr val="dk1"/>
                </a:solidFill>
              </a:rPr>
              <a:t> </a:t>
            </a:r>
            <a:r>
              <a:rPr lang="en" sz="1500" i="1" dirty="0">
                <a:solidFill>
                  <a:schemeClr val="dk1"/>
                </a:solidFill>
              </a:rPr>
              <a:t>(Boston.gov, 2023c)</a:t>
            </a:r>
            <a:endParaRPr sz="1500" i="1" dirty="0">
              <a:solidFill>
                <a:schemeClr val="dk1"/>
              </a:solidFill>
            </a:endParaRPr>
          </a:p>
        </p:txBody>
      </p:sp>
      <p:pic>
        <p:nvPicPr>
          <p:cNvPr id="91" name="Google Shape;91;p16"/>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92" name="Google Shape;92;p16"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title"/>
          </p:nvPr>
        </p:nvSpPr>
        <p:spPr>
          <a:xfrm>
            <a:off x="311700" y="281500"/>
            <a:ext cx="2864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Methods</a:t>
            </a:r>
            <a:endParaRPr/>
          </a:p>
        </p:txBody>
      </p:sp>
      <p:sp>
        <p:nvSpPr>
          <p:cNvPr id="98" name="Google Shape;98;p17"/>
          <p:cNvSpPr/>
          <p:nvPr/>
        </p:nvSpPr>
        <p:spPr>
          <a:xfrm>
            <a:off x="4112675" y="5047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Manual Data Download</a:t>
            </a:r>
            <a:endParaRPr/>
          </a:p>
        </p:txBody>
      </p:sp>
      <p:sp>
        <p:nvSpPr>
          <p:cNvPr id="99" name="Google Shape;99;p17"/>
          <p:cNvSpPr/>
          <p:nvPr/>
        </p:nvSpPr>
        <p:spPr>
          <a:xfrm>
            <a:off x="6807075" y="23109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Auto API Data Download</a:t>
            </a:r>
            <a:endParaRPr/>
          </a:p>
        </p:txBody>
      </p:sp>
      <p:sp>
        <p:nvSpPr>
          <p:cNvPr id="100" name="Google Shape;100;p17"/>
          <p:cNvSpPr/>
          <p:nvPr/>
        </p:nvSpPr>
        <p:spPr>
          <a:xfrm>
            <a:off x="4112675" y="1407825"/>
            <a:ext cx="1873200" cy="4533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Data Cleaning </a:t>
            </a:r>
            <a:endParaRPr b="1">
              <a:solidFill>
                <a:schemeClr val="lt1"/>
              </a:solidFill>
            </a:endParaRPr>
          </a:p>
          <a:p>
            <a:pPr marL="0" lvl="0" indent="0" algn="ctr" rtl="0">
              <a:spcBef>
                <a:spcPts val="0"/>
              </a:spcBef>
              <a:spcAft>
                <a:spcPts val="0"/>
              </a:spcAft>
              <a:buNone/>
            </a:pPr>
            <a:r>
              <a:rPr lang="en" b="1">
                <a:solidFill>
                  <a:schemeClr val="lt1"/>
                </a:solidFill>
              </a:rPr>
              <a:t>for EDA</a:t>
            </a:r>
            <a:endParaRPr b="1">
              <a:solidFill>
                <a:schemeClr val="lt1"/>
              </a:solidFill>
            </a:endParaRPr>
          </a:p>
        </p:txBody>
      </p:sp>
      <p:cxnSp>
        <p:nvCxnSpPr>
          <p:cNvPr id="101" name="Google Shape;101;p17"/>
          <p:cNvCxnSpPr>
            <a:stCxn id="98" idx="2"/>
            <a:endCxn id="100" idx="0"/>
          </p:cNvCxnSpPr>
          <p:nvPr/>
        </p:nvCxnSpPr>
        <p:spPr>
          <a:xfrm>
            <a:off x="5049275" y="9580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102" name="Google Shape;102;p17"/>
          <p:cNvSpPr/>
          <p:nvPr/>
        </p:nvSpPr>
        <p:spPr>
          <a:xfrm>
            <a:off x="4112675" y="23109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Exploratory Data</a:t>
            </a:r>
            <a:endParaRPr/>
          </a:p>
          <a:p>
            <a:pPr marL="0" lvl="0" indent="0" algn="ctr" rtl="0">
              <a:spcBef>
                <a:spcPts val="0"/>
              </a:spcBef>
              <a:spcAft>
                <a:spcPts val="0"/>
              </a:spcAft>
              <a:buNone/>
            </a:pPr>
            <a:r>
              <a:rPr lang="en"/>
              <a:t>Analysis</a:t>
            </a:r>
            <a:endParaRPr/>
          </a:p>
        </p:txBody>
      </p:sp>
      <p:cxnSp>
        <p:nvCxnSpPr>
          <p:cNvPr id="103" name="Google Shape;103;p17"/>
          <p:cNvCxnSpPr/>
          <p:nvPr/>
        </p:nvCxnSpPr>
        <p:spPr>
          <a:xfrm>
            <a:off x="5049275" y="18611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104" name="Google Shape;104;p17"/>
          <p:cNvSpPr/>
          <p:nvPr/>
        </p:nvSpPr>
        <p:spPr>
          <a:xfrm>
            <a:off x="4112675" y="32140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Data Aggregation </a:t>
            </a:r>
            <a:endParaRPr>
              <a:solidFill>
                <a:schemeClr val="dk1"/>
              </a:solidFill>
            </a:endParaRPr>
          </a:p>
          <a:p>
            <a:pPr marL="0" lvl="0" indent="0" algn="ctr" rtl="0">
              <a:spcBef>
                <a:spcPts val="0"/>
              </a:spcBef>
              <a:spcAft>
                <a:spcPts val="0"/>
              </a:spcAft>
              <a:buNone/>
            </a:pPr>
            <a:r>
              <a:rPr lang="en">
                <a:solidFill>
                  <a:schemeClr val="dk1"/>
                </a:solidFill>
              </a:rPr>
              <a:t>for Power BI</a:t>
            </a:r>
            <a:endParaRPr>
              <a:solidFill>
                <a:schemeClr val="dk1"/>
              </a:solidFill>
            </a:endParaRPr>
          </a:p>
        </p:txBody>
      </p:sp>
      <p:cxnSp>
        <p:nvCxnSpPr>
          <p:cNvPr id="105" name="Google Shape;105;p17"/>
          <p:cNvCxnSpPr/>
          <p:nvPr/>
        </p:nvCxnSpPr>
        <p:spPr>
          <a:xfrm>
            <a:off x="5049275" y="27642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106" name="Google Shape;106;p17"/>
          <p:cNvCxnSpPr/>
          <p:nvPr/>
        </p:nvCxnSpPr>
        <p:spPr>
          <a:xfrm>
            <a:off x="5056625" y="2955775"/>
            <a:ext cx="2698200" cy="7500"/>
          </a:xfrm>
          <a:prstGeom prst="straightConnector1">
            <a:avLst/>
          </a:prstGeom>
          <a:noFill/>
          <a:ln w="19050" cap="flat" cmpd="sng">
            <a:solidFill>
              <a:schemeClr val="dk2"/>
            </a:solidFill>
            <a:prstDash val="solid"/>
            <a:round/>
            <a:headEnd type="none" w="med" len="med"/>
            <a:tailEnd type="none" w="med" len="med"/>
          </a:ln>
        </p:spPr>
      </p:cxnSp>
      <p:sp>
        <p:nvSpPr>
          <p:cNvPr id="107" name="Google Shape;107;p17"/>
          <p:cNvSpPr/>
          <p:nvPr/>
        </p:nvSpPr>
        <p:spPr>
          <a:xfrm>
            <a:off x="4112675" y="41171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Power BI Dashboard</a:t>
            </a:r>
            <a:endParaRPr/>
          </a:p>
        </p:txBody>
      </p:sp>
      <p:cxnSp>
        <p:nvCxnSpPr>
          <p:cNvPr id="108" name="Google Shape;108;p17"/>
          <p:cNvCxnSpPr/>
          <p:nvPr/>
        </p:nvCxnSpPr>
        <p:spPr>
          <a:xfrm>
            <a:off x="5049275" y="36673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109" name="Google Shape;109;p17"/>
          <p:cNvCxnSpPr>
            <a:stCxn id="99" idx="2"/>
          </p:cNvCxnSpPr>
          <p:nvPr/>
        </p:nvCxnSpPr>
        <p:spPr>
          <a:xfrm flipH="1">
            <a:off x="7740075" y="2764225"/>
            <a:ext cx="3600" cy="198900"/>
          </a:xfrm>
          <a:prstGeom prst="straightConnector1">
            <a:avLst/>
          </a:prstGeom>
          <a:noFill/>
          <a:ln w="19050" cap="flat" cmpd="sng">
            <a:solidFill>
              <a:schemeClr val="dk2"/>
            </a:solidFill>
            <a:prstDash val="solid"/>
            <a:round/>
            <a:headEnd type="none" w="med" len="med"/>
            <a:tailEnd type="none" w="med" len="med"/>
          </a:ln>
        </p:spPr>
      </p:cxnSp>
      <p:sp>
        <p:nvSpPr>
          <p:cNvPr id="110" name="Google Shape;110;p17"/>
          <p:cNvSpPr txBox="1"/>
          <p:nvPr/>
        </p:nvSpPr>
        <p:spPr>
          <a:xfrm>
            <a:off x="311700" y="720200"/>
            <a:ext cx="3711900" cy="37917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400"/>
              </a:spcBef>
              <a:spcAft>
                <a:spcPts val="0"/>
              </a:spcAft>
              <a:buNone/>
            </a:pPr>
            <a:r>
              <a:rPr lang="en" sz="1600">
                <a:solidFill>
                  <a:schemeClr val="dk1"/>
                </a:solidFill>
              </a:rPr>
              <a:t>1. Standardized column names</a:t>
            </a:r>
            <a:endParaRPr sz="1600">
              <a:solidFill>
                <a:schemeClr val="dk1"/>
              </a:solidFill>
            </a:endParaRPr>
          </a:p>
          <a:p>
            <a:pPr marL="0" lvl="0" indent="0" algn="l" rtl="0">
              <a:lnSpc>
                <a:spcPct val="100000"/>
              </a:lnSpc>
              <a:spcBef>
                <a:spcPts val="1400"/>
              </a:spcBef>
              <a:spcAft>
                <a:spcPts val="0"/>
              </a:spcAft>
              <a:buNone/>
            </a:pPr>
            <a:r>
              <a:rPr lang="en" sz="1600">
                <a:solidFill>
                  <a:schemeClr val="dk1"/>
                </a:solidFill>
              </a:rPr>
              <a:t>2. Removed useless columns and fixed missing values</a:t>
            </a:r>
            <a:endParaRPr sz="1600">
              <a:solidFill>
                <a:schemeClr val="dk1"/>
              </a:solidFill>
            </a:endParaRPr>
          </a:p>
          <a:p>
            <a:pPr marL="0" lvl="0" indent="0" algn="l" rtl="0">
              <a:lnSpc>
                <a:spcPct val="100000"/>
              </a:lnSpc>
              <a:spcBef>
                <a:spcPts val="1400"/>
              </a:spcBef>
              <a:spcAft>
                <a:spcPts val="0"/>
              </a:spcAft>
              <a:buNone/>
            </a:pPr>
            <a:r>
              <a:rPr lang="en" sz="1600">
                <a:solidFill>
                  <a:schemeClr val="dk1"/>
                </a:solidFill>
              </a:rPr>
              <a:t>3. Used  the "Needle Program" keyword to filter the data</a:t>
            </a:r>
            <a:endParaRPr sz="1600">
              <a:solidFill>
                <a:schemeClr val="dk1"/>
              </a:solidFill>
            </a:endParaRPr>
          </a:p>
          <a:p>
            <a:pPr marL="0" lvl="0" indent="0" algn="l" rtl="0">
              <a:lnSpc>
                <a:spcPct val="100000"/>
              </a:lnSpc>
              <a:spcBef>
                <a:spcPts val="1400"/>
              </a:spcBef>
              <a:spcAft>
                <a:spcPts val="0"/>
              </a:spcAft>
              <a:buNone/>
            </a:pPr>
            <a:r>
              <a:rPr lang="en" sz="1600">
                <a:solidFill>
                  <a:schemeClr val="dk1"/>
                </a:solidFill>
              </a:rPr>
              <a:t>4. Used City Council Shapefiles to fix city_council_district column</a:t>
            </a:r>
            <a:endParaRPr sz="1600">
              <a:solidFill>
                <a:schemeClr val="dk1"/>
              </a:solidFill>
            </a:endParaRPr>
          </a:p>
          <a:p>
            <a:pPr marL="0" lvl="0" indent="0" algn="l" rtl="0">
              <a:lnSpc>
                <a:spcPct val="100000"/>
              </a:lnSpc>
              <a:spcBef>
                <a:spcPts val="1400"/>
              </a:spcBef>
              <a:spcAft>
                <a:spcPts val="0"/>
              </a:spcAft>
              <a:buNone/>
            </a:pPr>
            <a:r>
              <a:rPr lang="en" sz="1600">
                <a:solidFill>
                  <a:schemeClr val="dk1"/>
                </a:solidFill>
              </a:rPr>
              <a:t>5. Performed Spatial Matching to add owner_name features</a:t>
            </a:r>
            <a:endParaRPr sz="1600">
              <a:solidFill>
                <a:schemeClr val="dk1"/>
              </a:solidFill>
            </a:endParaRPr>
          </a:p>
          <a:p>
            <a:pPr marL="0" lvl="0" indent="0" algn="l" rtl="0">
              <a:lnSpc>
                <a:spcPct val="100000"/>
              </a:lnSpc>
              <a:spcBef>
                <a:spcPts val="1400"/>
              </a:spcBef>
              <a:spcAft>
                <a:spcPts val="400"/>
              </a:spcAft>
              <a:buNone/>
            </a:pPr>
            <a:r>
              <a:rPr lang="en" sz="1600">
                <a:solidFill>
                  <a:schemeClr val="dk1"/>
                </a:solidFill>
              </a:rPr>
              <a:t>6. Determine if Syringe Requests are within 50 meters of the areas</a:t>
            </a:r>
            <a:endParaRPr sz="1600">
              <a:solidFill>
                <a:schemeClr val="dk1"/>
              </a:solidFill>
            </a:endParaRPr>
          </a:p>
        </p:txBody>
      </p:sp>
      <p:pic>
        <p:nvPicPr>
          <p:cNvPr id="111" name="Google Shape;111;p17"/>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112" name="Google Shape;112;p17"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p:nvPr/>
        </p:nvSpPr>
        <p:spPr>
          <a:xfrm>
            <a:off x="4112675" y="5047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Manual Data Download</a:t>
            </a:r>
            <a:endParaRPr/>
          </a:p>
        </p:txBody>
      </p:sp>
      <p:sp>
        <p:nvSpPr>
          <p:cNvPr id="118" name="Google Shape;118;p18"/>
          <p:cNvSpPr/>
          <p:nvPr/>
        </p:nvSpPr>
        <p:spPr>
          <a:xfrm>
            <a:off x="6807075" y="23109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Auto API Data Download</a:t>
            </a:r>
            <a:endParaRPr/>
          </a:p>
        </p:txBody>
      </p:sp>
      <p:sp>
        <p:nvSpPr>
          <p:cNvPr id="119" name="Google Shape;119;p18"/>
          <p:cNvSpPr/>
          <p:nvPr/>
        </p:nvSpPr>
        <p:spPr>
          <a:xfrm>
            <a:off x="4112675" y="14078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Data Cleaning </a:t>
            </a:r>
            <a:endParaRPr/>
          </a:p>
          <a:p>
            <a:pPr marL="0" lvl="0" indent="0" algn="ctr" rtl="0">
              <a:spcBef>
                <a:spcPts val="0"/>
              </a:spcBef>
              <a:spcAft>
                <a:spcPts val="0"/>
              </a:spcAft>
              <a:buNone/>
            </a:pPr>
            <a:r>
              <a:rPr lang="en"/>
              <a:t>for EDA</a:t>
            </a:r>
            <a:endParaRPr/>
          </a:p>
        </p:txBody>
      </p:sp>
      <p:cxnSp>
        <p:nvCxnSpPr>
          <p:cNvPr id="120" name="Google Shape;120;p18"/>
          <p:cNvCxnSpPr>
            <a:stCxn id="117" idx="2"/>
            <a:endCxn id="119" idx="0"/>
          </p:cNvCxnSpPr>
          <p:nvPr/>
        </p:nvCxnSpPr>
        <p:spPr>
          <a:xfrm>
            <a:off x="5049275" y="9580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121" name="Google Shape;121;p18"/>
          <p:cNvSpPr/>
          <p:nvPr/>
        </p:nvSpPr>
        <p:spPr>
          <a:xfrm>
            <a:off x="4112675" y="2310925"/>
            <a:ext cx="1873200" cy="4533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Exploratory Data</a:t>
            </a:r>
            <a:endParaRPr b="1">
              <a:solidFill>
                <a:schemeClr val="lt1"/>
              </a:solidFill>
            </a:endParaRPr>
          </a:p>
          <a:p>
            <a:pPr marL="0" lvl="0" indent="0" algn="ctr" rtl="0">
              <a:spcBef>
                <a:spcPts val="0"/>
              </a:spcBef>
              <a:spcAft>
                <a:spcPts val="0"/>
              </a:spcAft>
              <a:buNone/>
            </a:pPr>
            <a:r>
              <a:rPr lang="en" b="1">
                <a:solidFill>
                  <a:schemeClr val="lt1"/>
                </a:solidFill>
              </a:rPr>
              <a:t>Analysis</a:t>
            </a:r>
            <a:endParaRPr b="1">
              <a:solidFill>
                <a:schemeClr val="lt1"/>
              </a:solidFill>
            </a:endParaRPr>
          </a:p>
        </p:txBody>
      </p:sp>
      <p:cxnSp>
        <p:nvCxnSpPr>
          <p:cNvPr id="122" name="Google Shape;122;p18"/>
          <p:cNvCxnSpPr/>
          <p:nvPr/>
        </p:nvCxnSpPr>
        <p:spPr>
          <a:xfrm>
            <a:off x="5049275" y="18611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123" name="Google Shape;123;p18"/>
          <p:cNvSpPr/>
          <p:nvPr/>
        </p:nvSpPr>
        <p:spPr>
          <a:xfrm>
            <a:off x="4112675" y="32140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Data Aggregation </a:t>
            </a:r>
            <a:endParaRPr>
              <a:solidFill>
                <a:schemeClr val="dk1"/>
              </a:solidFill>
            </a:endParaRPr>
          </a:p>
          <a:p>
            <a:pPr marL="0" lvl="0" indent="0" algn="ctr" rtl="0">
              <a:spcBef>
                <a:spcPts val="0"/>
              </a:spcBef>
              <a:spcAft>
                <a:spcPts val="0"/>
              </a:spcAft>
              <a:buNone/>
            </a:pPr>
            <a:r>
              <a:rPr lang="en">
                <a:solidFill>
                  <a:schemeClr val="dk1"/>
                </a:solidFill>
              </a:rPr>
              <a:t>for Power BI</a:t>
            </a:r>
            <a:endParaRPr>
              <a:solidFill>
                <a:schemeClr val="dk1"/>
              </a:solidFill>
            </a:endParaRPr>
          </a:p>
        </p:txBody>
      </p:sp>
      <p:cxnSp>
        <p:nvCxnSpPr>
          <p:cNvPr id="124" name="Google Shape;124;p18"/>
          <p:cNvCxnSpPr/>
          <p:nvPr/>
        </p:nvCxnSpPr>
        <p:spPr>
          <a:xfrm>
            <a:off x="5049275" y="27642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125" name="Google Shape;125;p18"/>
          <p:cNvCxnSpPr/>
          <p:nvPr/>
        </p:nvCxnSpPr>
        <p:spPr>
          <a:xfrm>
            <a:off x="5056625" y="2955775"/>
            <a:ext cx="2698200" cy="7500"/>
          </a:xfrm>
          <a:prstGeom prst="straightConnector1">
            <a:avLst/>
          </a:prstGeom>
          <a:noFill/>
          <a:ln w="19050" cap="flat" cmpd="sng">
            <a:solidFill>
              <a:schemeClr val="dk2"/>
            </a:solidFill>
            <a:prstDash val="solid"/>
            <a:round/>
            <a:headEnd type="none" w="med" len="med"/>
            <a:tailEnd type="none" w="med" len="med"/>
          </a:ln>
        </p:spPr>
      </p:cxnSp>
      <p:sp>
        <p:nvSpPr>
          <p:cNvPr id="126" name="Google Shape;126;p18"/>
          <p:cNvSpPr/>
          <p:nvPr/>
        </p:nvSpPr>
        <p:spPr>
          <a:xfrm>
            <a:off x="4112675" y="41171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Power BI Dashboard</a:t>
            </a:r>
            <a:endParaRPr/>
          </a:p>
        </p:txBody>
      </p:sp>
      <p:cxnSp>
        <p:nvCxnSpPr>
          <p:cNvPr id="127" name="Google Shape;127;p18"/>
          <p:cNvCxnSpPr/>
          <p:nvPr/>
        </p:nvCxnSpPr>
        <p:spPr>
          <a:xfrm>
            <a:off x="5049275" y="36673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128" name="Google Shape;128;p18"/>
          <p:cNvCxnSpPr>
            <a:stCxn id="118" idx="2"/>
          </p:cNvCxnSpPr>
          <p:nvPr/>
        </p:nvCxnSpPr>
        <p:spPr>
          <a:xfrm flipH="1">
            <a:off x="7740075" y="2764225"/>
            <a:ext cx="3600" cy="198900"/>
          </a:xfrm>
          <a:prstGeom prst="straightConnector1">
            <a:avLst/>
          </a:prstGeom>
          <a:noFill/>
          <a:ln w="19050" cap="flat" cmpd="sng">
            <a:solidFill>
              <a:schemeClr val="dk2"/>
            </a:solidFill>
            <a:prstDash val="solid"/>
            <a:round/>
            <a:headEnd type="none" w="med" len="med"/>
            <a:tailEnd type="none" w="med" len="med"/>
          </a:ln>
        </p:spPr>
      </p:cxnSp>
      <p:sp>
        <p:nvSpPr>
          <p:cNvPr id="129" name="Google Shape;129;p18"/>
          <p:cNvSpPr txBox="1"/>
          <p:nvPr/>
        </p:nvSpPr>
        <p:spPr>
          <a:xfrm>
            <a:off x="311700" y="1052825"/>
            <a:ext cx="3726900" cy="209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a:solidFill>
                  <a:schemeClr val="dk1"/>
                </a:solidFill>
              </a:rPr>
              <a:t>1. Based on the data in 2024</a:t>
            </a:r>
            <a:endParaRPr sz="1800">
              <a:solidFill>
                <a:schemeClr val="dk1"/>
              </a:solidFill>
            </a:endParaRPr>
          </a:p>
          <a:p>
            <a:pPr marL="0" lvl="0" indent="0" algn="l" rtl="0">
              <a:lnSpc>
                <a:spcPct val="115000"/>
              </a:lnSpc>
              <a:spcBef>
                <a:spcPts val="1400"/>
              </a:spcBef>
              <a:spcAft>
                <a:spcPts val="0"/>
              </a:spcAft>
              <a:buNone/>
            </a:pPr>
            <a:r>
              <a:rPr lang="en" sz="1800">
                <a:solidFill>
                  <a:schemeClr val="dk1"/>
                </a:solidFill>
              </a:rPr>
              <a:t>2. City Council District Grouping and Summary Table</a:t>
            </a:r>
            <a:endParaRPr sz="1800">
              <a:solidFill>
                <a:schemeClr val="dk1"/>
              </a:solidFill>
            </a:endParaRPr>
          </a:p>
          <a:p>
            <a:pPr marL="0" lvl="0" indent="0" algn="l" rtl="0">
              <a:lnSpc>
                <a:spcPct val="115000"/>
              </a:lnSpc>
              <a:spcBef>
                <a:spcPts val="1400"/>
              </a:spcBef>
              <a:spcAft>
                <a:spcPts val="400"/>
              </a:spcAft>
              <a:buNone/>
            </a:pPr>
            <a:r>
              <a:rPr lang="en" sz="1800">
                <a:solidFill>
                  <a:schemeClr val="dk1"/>
                </a:solidFill>
              </a:rPr>
              <a:t>3. Distribution of Response Time for Needle Reports</a:t>
            </a:r>
            <a:endParaRPr sz="1800">
              <a:solidFill>
                <a:schemeClr val="dk1"/>
              </a:solidFill>
            </a:endParaRPr>
          </a:p>
        </p:txBody>
      </p:sp>
      <p:sp>
        <p:nvSpPr>
          <p:cNvPr id="130" name="Google Shape;130;p18"/>
          <p:cNvSpPr txBox="1">
            <a:spLocks noGrp="1"/>
          </p:cNvSpPr>
          <p:nvPr>
            <p:ph type="title"/>
          </p:nvPr>
        </p:nvSpPr>
        <p:spPr>
          <a:xfrm>
            <a:off x="311700" y="281500"/>
            <a:ext cx="2864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Methods</a:t>
            </a:r>
            <a:endParaRPr/>
          </a:p>
        </p:txBody>
      </p:sp>
      <p:pic>
        <p:nvPicPr>
          <p:cNvPr id="131" name="Google Shape;131;p18"/>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132" name="Google Shape;132;p18"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9"/>
          <p:cNvSpPr/>
          <p:nvPr/>
        </p:nvSpPr>
        <p:spPr>
          <a:xfrm>
            <a:off x="4112675" y="5047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Manual Data Download</a:t>
            </a:r>
            <a:endParaRPr/>
          </a:p>
        </p:txBody>
      </p:sp>
      <p:sp>
        <p:nvSpPr>
          <p:cNvPr id="138" name="Google Shape;138;p19"/>
          <p:cNvSpPr/>
          <p:nvPr/>
        </p:nvSpPr>
        <p:spPr>
          <a:xfrm>
            <a:off x="6807075" y="23109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Auto API Data Download</a:t>
            </a:r>
            <a:endParaRPr/>
          </a:p>
        </p:txBody>
      </p:sp>
      <p:sp>
        <p:nvSpPr>
          <p:cNvPr id="139" name="Google Shape;139;p19"/>
          <p:cNvSpPr/>
          <p:nvPr/>
        </p:nvSpPr>
        <p:spPr>
          <a:xfrm>
            <a:off x="4112675" y="14078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Data Cleaning </a:t>
            </a:r>
            <a:endParaRPr/>
          </a:p>
          <a:p>
            <a:pPr marL="0" lvl="0" indent="0" algn="ctr" rtl="0">
              <a:spcBef>
                <a:spcPts val="0"/>
              </a:spcBef>
              <a:spcAft>
                <a:spcPts val="0"/>
              </a:spcAft>
              <a:buNone/>
            </a:pPr>
            <a:r>
              <a:rPr lang="en"/>
              <a:t>for EDA</a:t>
            </a:r>
            <a:endParaRPr/>
          </a:p>
        </p:txBody>
      </p:sp>
      <p:cxnSp>
        <p:nvCxnSpPr>
          <p:cNvPr id="140" name="Google Shape;140;p19"/>
          <p:cNvCxnSpPr>
            <a:stCxn id="137" idx="2"/>
            <a:endCxn id="139" idx="0"/>
          </p:cNvCxnSpPr>
          <p:nvPr/>
        </p:nvCxnSpPr>
        <p:spPr>
          <a:xfrm>
            <a:off x="5049275" y="9580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141" name="Google Shape;141;p19"/>
          <p:cNvSpPr/>
          <p:nvPr/>
        </p:nvSpPr>
        <p:spPr>
          <a:xfrm>
            <a:off x="4112675" y="2310925"/>
            <a:ext cx="1873200" cy="4533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Exploratory Data</a:t>
            </a:r>
            <a:endParaRPr b="1">
              <a:solidFill>
                <a:schemeClr val="lt1"/>
              </a:solidFill>
            </a:endParaRPr>
          </a:p>
          <a:p>
            <a:pPr marL="0" lvl="0" indent="0" algn="ctr" rtl="0">
              <a:spcBef>
                <a:spcPts val="0"/>
              </a:spcBef>
              <a:spcAft>
                <a:spcPts val="0"/>
              </a:spcAft>
              <a:buNone/>
            </a:pPr>
            <a:r>
              <a:rPr lang="en" b="1">
                <a:solidFill>
                  <a:schemeClr val="lt1"/>
                </a:solidFill>
              </a:rPr>
              <a:t>Analysis</a:t>
            </a:r>
            <a:endParaRPr b="1">
              <a:solidFill>
                <a:schemeClr val="lt1"/>
              </a:solidFill>
            </a:endParaRPr>
          </a:p>
        </p:txBody>
      </p:sp>
      <p:cxnSp>
        <p:nvCxnSpPr>
          <p:cNvPr id="142" name="Google Shape;142;p19"/>
          <p:cNvCxnSpPr/>
          <p:nvPr/>
        </p:nvCxnSpPr>
        <p:spPr>
          <a:xfrm>
            <a:off x="5049275" y="18611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143" name="Google Shape;143;p19"/>
          <p:cNvSpPr/>
          <p:nvPr/>
        </p:nvSpPr>
        <p:spPr>
          <a:xfrm>
            <a:off x="4112675" y="32140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Data Aggregation </a:t>
            </a:r>
            <a:endParaRPr>
              <a:solidFill>
                <a:schemeClr val="dk1"/>
              </a:solidFill>
            </a:endParaRPr>
          </a:p>
          <a:p>
            <a:pPr marL="0" lvl="0" indent="0" algn="ctr" rtl="0">
              <a:spcBef>
                <a:spcPts val="0"/>
              </a:spcBef>
              <a:spcAft>
                <a:spcPts val="0"/>
              </a:spcAft>
              <a:buNone/>
            </a:pPr>
            <a:r>
              <a:rPr lang="en">
                <a:solidFill>
                  <a:schemeClr val="dk1"/>
                </a:solidFill>
              </a:rPr>
              <a:t>for Power BI</a:t>
            </a:r>
            <a:endParaRPr>
              <a:solidFill>
                <a:schemeClr val="dk1"/>
              </a:solidFill>
            </a:endParaRPr>
          </a:p>
        </p:txBody>
      </p:sp>
      <p:cxnSp>
        <p:nvCxnSpPr>
          <p:cNvPr id="144" name="Google Shape;144;p19"/>
          <p:cNvCxnSpPr/>
          <p:nvPr/>
        </p:nvCxnSpPr>
        <p:spPr>
          <a:xfrm>
            <a:off x="5049275" y="27642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145" name="Google Shape;145;p19"/>
          <p:cNvCxnSpPr/>
          <p:nvPr/>
        </p:nvCxnSpPr>
        <p:spPr>
          <a:xfrm>
            <a:off x="5056625" y="2955775"/>
            <a:ext cx="2698200" cy="7500"/>
          </a:xfrm>
          <a:prstGeom prst="straightConnector1">
            <a:avLst/>
          </a:prstGeom>
          <a:noFill/>
          <a:ln w="19050" cap="flat" cmpd="sng">
            <a:solidFill>
              <a:schemeClr val="dk2"/>
            </a:solidFill>
            <a:prstDash val="solid"/>
            <a:round/>
            <a:headEnd type="none" w="med" len="med"/>
            <a:tailEnd type="none" w="med" len="med"/>
          </a:ln>
        </p:spPr>
      </p:cxnSp>
      <p:sp>
        <p:nvSpPr>
          <p:cNvPr id="146" name="Google Shape;146;p19"/>
          <p:cNvSpPr/>
          <p:nvPr/>
        </p:nvSpPr>
        <p:spPr>
          <a:xfrm>
            <a:off x="4112675" y="41171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Power BI Dashboard</a:t>
            </a:r>
            <a:endParaRPr/>
          </a:p>
        </p:txBody>
      </p:sp>
      <p:cxnSp>
        <p:nvCxnSpPr>
          <p:cNvPr id="147" name="Google Shape;147;p19"/>
          <p:cNvCxnSpPr/>
          <p:nvPr/>
        </p:nvCxnSpPr>
        <p:spPr>
          <a:xfrm>
            <a:off x="5049275" y="36673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148" name="Google Shape;148;p19"/>
          <p:cNvCxnSpPr>
            <a:stCxn id="138" idx="2"/>
          </p:cNvCxnSpPr>
          <p:nvPr/>
        </p:nvCxnSpPr>
        <p:spPr>
          <a:xfrm flipH="1">
            <a:off x="7740075" y="2764225"/>
            <a:ext cx="3600" cy="198900"/>
          </a:xfrm>
          <a:prstGeom prst="straightConnector1">
            <a:avLst/>
          </a:prstGeom>
          <a:noFill/>
          <a:ln w="19050" cap="flat" cmpd="sng">
            <a:solidFill>
              <a:schemeClr val="dk2"/>
            </a:solidFill>
            <a:prstDash val="solid"/>
            <a:round/>
            <a:headEnd type="none" w="med" len="med"/>
            <a:tailEnd type="none" w="med" len="med"/>
          </a:ln>
        </p:spPr>
      </p:cxnSp>
      <p:sp>
        <p:nvSpPr>
          <p:cNvPr id="149" name="Google Shape;149;p19"/>
          <p:cNvSpPr txBox="1"/>
          <p:nvPr/>
        </p:nvSpPr>
        <p:spPr>
          <a:xfrm>
            <a:off x="311700" y="1093675"/>
            <a:ext cx="3726900" cy="4227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a:solidFill>
                  <a:schemeClr val="dk1"/>
                </a:solidFill>
              </a:rPr>
              <a:t>4. Map of Syringe Requests, Public Schools, Non-public Schools, and Open Spaces </a:t>
            </a:r>
            <a:endParaRPr sz="1800">
              <a:solidFill>
                <a:schemeClr val="dk1"/>
              </a:solidFill>
            </a:endParaRPr>
          </a:p>
          <a:p>
            <a:pPr marL="0" lvl="0" indent="0" algn="l" rtl="0">
              <a:lnSpc>
                <a:spcPct val="115000"/>
              </a:lnSpc>
              <a:spcBef>
                <a:spcPts val="1400"/>
              </a:spcBef>
              <a:spcAft>
                <a:spcPts val="0"/>
              </a:spcAft>
              <a:buNone/>
            </a:pPr>
            <a:r>
              <a:rPr lang="en" sz="1800">
                <a:solidFill>
                  <a:schemeClr val="dk1"/>
                </a:solidFill>
              </a:rPr>
              <a:t>5. Time Trend Analysis and Forecasting </a:t>
            </a:r>
            <a:endParaRPr sz="1800">
              <a:solidFill>
                <a:schemeClr val="dk1"/>
              </a:solidFill>
            </a:endParaRPr>
          </a:p>
          <a:p>
            <a:pPr marL="0" lvl="0" indent="0" algn="l" rtl="0">
              <a:lnSpc>
                <a:spcPct val="115000"/>
              </a:lnSpc>
              <a:spcBef>
                <a:spcPts val="1400"/>
              </a:spcBef>
              <a:spcAft>
                <a:spcPts val="0"/>
              </a:spcAft>
              <a:buNone/>
            </a:pPr>
            <a:r>
              <a:rPr lang="en" sz="1800">
                <a:solidFill>
                  <a:schemeClr val="dk1"/>
                </a:solidFill>
              </a:rPr>
              <a:t>6. K-Means Clustering Analysis of Syringe Requests</a:t>
            </a:r>
            <a:endParaRPr sz="1800">
              <a:solidFill>
                <a:schemeClr val="dk1"/>
              </a:solidFill>
            </a:endParaRPr>
          </a:p>
          <a:p>
            <a:pPr marL="0" lvl="0" indent="0" algn="l" rtl="0">
              <a:lnSpc>
                <a:spcPct val="115000"/>
              </a:lnSpc>
              <a:spcBef>
                <a:spcPts val="1400"/>
              </a:spcBef>
              <a:spcAft>
                <a:spcPts val="0"/>
              </a:spcAft>
              <a:buNone/>
            </a:pPr>
            <a:endParaRPr sz="1800">
              <a:solidFill>
                <a:schemeClr val="dk1"/>
              </a:solidFill>
            </a:endParaRPr>
          </a:p>
          <a:p>
            <a:pPr marL="0" lvl="0" indent="0" algn="l" rtl="0">
              <a:lnSpc>
                <a:spcPct val="115000"/>
              </a:lnSpc>
              <a:spcBef>
                <a:spcPts val="1400"/>
              </a:spcBef>
              <a:spcAft>
                <a:spcPts val="0"/>
              </a:spcAft>
              <a:buNone/>
            </a:pPr>
            <a:endParaRPr sz="1800">
              <a:solidFill>
                <a:schemeClr val="dk1"/>
              </a:solidFill>
            </a:endParaRPr>
          </a:p>
          <a:p>
            <a:pPr marL="0" lvl="0" indent="0" algn="l" rtl="0">
              <a:lnSpc>
                <a:spcPct val="115000"/>
              </a:lnSpc>
              <a:spcBef>
                <a:spcPts val="1400"/>
              </a:spcBef>
              <a:spcAft>
                <a:spcPts val="400"/>
              </a:spcAft>
              <a:buNone/>
            </a:pPr>
            <a:endParaRPr sz="1800">
              <a:solidFill>
                <a:schemeClr val="dk1"/>
              </a:solidFill>
            </a:endParaRPr>
          </a:p>
        </p:txBody>
      </p:sp>
      <p:sp>
        <p:nvSpPr>
          <p:cNvPr id="150" name="Google Shape;150;p19"/>
          <p:cNvSpPr txBox="1">
            <a:spLocks noGrp="1"/>
          </p:cNvSpPr>
          <p:nvPr>
            <p:ph type="title"/>
          </p:nvPr>
        </p:nvSpPr>
        <p:spPr>
          <a:xfrm>
            <a:off x="311700" y="281500"/>
            <a:ext cx="2864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Methods</a:t>
            </a:r>
            <a:endParaRPr/>
          </a:p>
        </p:txBody>
      </p:sp>
      <p:pic>
        <p:nvPicPr>
          <p:cNvPr id="151" name="Google Shape;151;p19"/>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152" name="Google Shape;152;p19"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0"/>
          <p:cNvSpPr/>
          <p:nvPr/>
        </p:nvSpPr>
        <p:spPr>
          <a:xfrm>
            <a:off x="4112675" y="5047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Manual Data Download</a:t>
            </a:r>
            <a:endParaRPr/>
          </a:p>
        </p:txBody>
      </p:sp>
      <p:sp>
        <p:nvSpPr>
          <p:cNvPr id="158" name="Google Shape;158;p20"/>
          <p:cNvSpPr/>
          <p:nvPr/>
        </p:nvSpPr>
        <p:spPr>
          <a:xfrm>
            <a:off x="6807075" y="2310925"/>
            <a:ext cx="1873200" cy="4533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Auto API Data Download</a:t>
            </a:r>
            <a:endParaRPr b="1">
              <a:solidFill>
                <a:schemeClr val="lt1"/>
              </a:solidFill>
            </a:endParaRPr>
          </a:p>
        </p:txBody>
      </p:sp>
      <p:sp>
        <p:nvSpPr>
          <p:cNvPr id="159" name="Google Shape;159;p20"/>
          <p:cNvSpPr/>
          <p:nvPr/>
        </p:nvSpPr>
        <p:spPr>
          <a:xfrm>
            <a:off x="4112675" y="14078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Data Cleaning </a:t>
            </a:r>
            <a:endParaRPr/>
          </a:p>
          <a:p>
            <a:pPr marL="0" lvl="0" indent="0" algn="ctr" rtl="0">
              <a:spcBef>
                <a:spcPts val="0"/>
              </a:spcBef>
              <a:spcAft>
                <a:spcPts val="0"/>
              </a:spcAft>
              <a:buNone/>
            </a:pPr>
            <a:r>
              <a:rPr lang="en"/>
              <a:t>for EDA</a:t>
            </a:r>
            <a:endParaRPr/>
          </a:p>
        </p:txBody>
      </p:sp>
      <p:cxnSp>
        <p:nvCxnSpPr>
          <p:cNvPr id="160" name="Google Shape;160;p20"/>
          <p:cNvCxnSpPr>
            <a:stCxn id="157" idx="2"/>
            <a:endCxn id="159" idx="0"/>
          </p:cNvCxnSpPr>
          <p:nvPr/>
        </p:nvCxnSpPr>
        <p:spPr>
          <a:xfrm>
            <a:off x="5049275" y="9580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161" name="Google Shape;161;p20"/>
          <p:cNvSpPr/>
          <p:nvPr/>
        </p:nvSpPr>
        <p:spPr>
          <a:xfrm>
            <a:off x="4112675" y="23109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Exploratory Data</a:t>
            </a:r>
            <a:endParaRPr/>
          </a:p>
          <a:p>
            <a:pPr marL="0" lvl="0" indent="0" algn="ctr" rtl="0">
              <a:spcBef>
                <a:spcPts val="0"/>
              </a:spcBef>
              <a:spcAft>
                <a:spcPts val="0"/>
              </a:spcAft>
              <a:buNone/>
            </a:pPr>
            <a:r>
              <a:rPr lang="en"/>
              <a:t>Analysis</a:t>
            </a:r>
            <a:endParaRPr/>
          </a:p>
        </p:txBody>
      </p:sp>
      <p:cxnSp>
        <p:nvCxnSpPr>
          <p:cNvPr id="162" name="Google Shape;162;p20"/>
          <p:cNvCxnSpPr/>
          <p:nvPr/>
        </p:nvCxnSpPr>
        <p:spPr>
          <a:xfrm>
            <a:off x="5049275" y="18611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163" name="Google Shape;163;p20"/>
          <p:cNvSpPr/>
          <p:nvPr/>
        </p:nvSpPr>
        <p:spPr>
          <a:xfrm>
            <a:off x="4112675" y="32140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Data Aggregation </a:t>
            </a:r>
            <a:endParaRPr>
              <a:solidFill>
                <a:schemeClr val="dk1"/>
              </a:solidFill>
            </a:endParaRPr>
          </a:p>
          <a:p>
            <a:pPr marL="0" lvl="0" indent="0" algn="ctr" rtl="0">
              <a:spcBef>
                <a:spcPts val="0"/>
              </a:spcBef>
              <a:spcAft>
                <a:spcPts val="0"/>
              </a:spcAft>
              <a:buNone/>
            </a:pPr>
            <a:r>
              <a:rPr lang="en">
                <a:solidFill>
                  <a:schemeClr val="dk1"/>
                </a:solidFill>
              </a:rPr>
              <a:t>for Power BI</a:t>
            </a:r>
            <a:endParaRPr>
              <a:solidFill>
                <a:schemeClr val="dk1"/>
              </a:solidFill>
            </a:endParaRPr>
          </a:p>
        </p:txBody>
      </p:sp>
      <p:cxnSp>
        <p:nvCxnSpPr>
          <p:cNvPr id="164" name="Google Shape;164;p20"/>
          <p:cNvCxnSpPr/>
          <p:nvPr/>
        </p:nvCxnSpPr>
        <p:spPr>
          <a:xfrm>
            <a:off x="5049275" y="27642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165" name="Google Shape;165;p20"/>
          <p:cNvCxnSpPr/>
          <p:nvPr/>
        </p:nvCxnSpPr>
        <p:spPr>
          <a:xfrm>
            <a:off x="5056625" y="2955775"/>
            <a:ext cx="2698200" cy="7500"/>
          </a:xfrm>
          <a:prstGeom prst="straightConnector1">
            <a:avLst/>
          </a:prstGeom>
          <a:noFill/>
          <a:ln w="19050" cap="flat" cmpd="sng">
            <a:solidFill>
              <a:schemeClr val="dk2"/>
            </a:solidFill>
            <a:prstDash val="solid"/>
            <a:round/>
            <a:headEnd type="none" w="med" len="med"/>
            <a:tailEnd type="none" w="med" len="med"/>
          </a:ln>
        </p:spPr>
      </p:cxnSp>
      <p:sp>
        <p:nvSpPr>
          <p:cNvPr id="166" name="Google Shape;166;p20"/>
          <p:cNvSpPr/>
          <p:nvPr/>
        </p:nvSpPr>
        <p:spPr>
          <a:xfrm>
            <a:off x="4112675" y="41171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Power BI Dashboard</a:t>
            </a:r>
            <a:endParaRPr/>
          </a:p>
        </p:txBody>
      </p:sp>
      <p:cxnSp>
        <p:nvCxnSpPr>
          <p:cNvPr id="167" name="Google Shape;167;p20"/>
          <p:cNvCxnSpPr/>
          <p:nvPr/>
        </p:nvCxnSpPr>
        <p:spPr>
          <a:xfrm>
            <a:off x="5049275" y="36673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168" name="Google Shape;168;p20"/>
          <p:cNvCxnSpPr>
            <a:stCxn id="158" idx="2"/>
          </p:cNvCxnSpPr>
          <p:nvPr/>
        </p:nvCxnSpPr>
        <p:spPr>
          <a:xfrm flipH="1">
            <a:off x="7740075" y="2764225"/>
            <a:ext cx="3600" cy="198900"/>
          </a:xfrm>
          <a:prstGeom prst="straightConnector1">
            <a:avLst/>
          </a:prstGeom>
          <a:noFill/>
          <a:ln w="19050" cap="flat" cmpd="sng">
            <a:solidFill>
              <a:schemeClr val="dk2"/>
            </a:solidFill>
            <a:prstDash val="solid"/>
            <a:round/>
            <a:headEnd type="none" w="med" len="med"/>
            <a:tailEnd type="none" w="med" len="med"/>
          </a:ln>
        </p:spPr>
      </p:cxnSp>
      <p:sp>
        <p:nvSpPr>
          <p:cNvPr id="169" name="Google Shape;169;p20"/>
          <p:cNvSpPr txBox="1"/>
          <p:nvPr/>
        </p:nvSpPr>
        <p:spPr>
          <a:xfrm>
            <a:off x="148650" y="958025"/>
            <a:ext cx="40458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1. Real-Time API Query</a:t>
            </a:r>
            <a:endParaRPr sz="1800">
              <a:solidFill>
                <a:schemeClr val="dk1"/>
              </a:solidFill>
            </a:endParaRPr>
          </a:p>
          <a:p>
            <a:pPr marL="0" lvl="0" indent="0" algn="l" rtl="0">
              <a:spcBef>
                <a:spcPts val="0"/>
              </a:spcBef>
              <a:spcAft>
                <a:spcPts val="0"/>
              </a:spcAft>
              <a:buNone/>
            </a:pPr>
            <a:r>
              <a:rPr lang="en" sz="1800">
                <a:solidFill>
                  <a:schemeClr val="dk1"/>
                </a:solidFill>
              </a:rPr>
              <a:t>   (Latest 1000 Records)</a:t>
            </a:r>
            <a:endParaRPr sz="1800">
              <a:solidFill>
                <a:schemeClr val="dk1"/>
              </a:solidFill>
            </a:endParaRPr>
          </a:p>
        </p:txBody>
      </p:sp>
      <p:pic>
        <p:nvPicPr>
          <p:cNvPr id="170" name="Google Shape;170;p20"/>
          <p:cNvPicPr preferRelativeResize="0"/>
          <p:nvPr/>
        </p:nvPicPr>
        <p:blipFill>
          <a:blip r:embed="rId3">
            <a:alphaModFix/>
          </a:blip>
          <a:stretch>
            <a:fillRect/>
          </a:stretch>
        </p:blipFill>
        <p:spPr>
          <a:xfrm>
            <a:off x="280625" y="1648650"/>
            <a:ext cx="3665756" cy="2921775"/>
          </a:xfrm>
          <a:prstGeom prst="rect">
            <a:avLst/>
          </a:prstGeom>
          <a:noFill/>
          <a:ln>
            <a:noFill/>
          </a:ln>
        </p:spPr>
      </p:pic>
      <p:sp>
        <p:nvSpPr>
          <p:cNvPr id="171" name="Google Shape;171;p20"/>
          <p:cNvSpPr txBox="1">
            <a:spLocks noGrp="1"/>
          </p:cNvSpPr>
          <p:nvPr>
            <p:ph type="title"/>
          </p:nvPr>
        </p:nvSpPr>
        <p:spPr>
          <a:xfrm>
            <a:off x="311700" y="281500"/>
            <a:ext cx="2864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Methods</a:t>
            </a:r>
            <a:endParaRPr/>
          </a:p>
        </p:txBody>
      </p:sp>
      <p:pic>
        <p:nvPicPr>
          <p:cNvPr id="172" name="Google Shape;172;p20"/>
          <p:cNvPicPr preferRelativeResize="0"/>
          <p:nvPr/>
        </p:nvPicPr>
        <p:blipFill>
          <a:blip r:embed="rId4">
            <a:alphaModFix/>
          </a:blip>
          <a:stretch>
            <a:fillRect/>
          </a:stretch>
        </p:blipFill>
        <p:spPr>
          <a:xfrm>
            <a:off x="7213100" y="168200"/>
            <a:ext cx="824250" cy="824250"/>
          </a:xfrm>
          <a:prstGeom prst="rect">
            <a:avLst/>
          </a:prstGeom>
          <a:noFill/>
          <a:ln>
            <a:noFill/>
          </a:ln>
        </p:spPr>
      </p:pic>
      <p:pic>
        <p:nvPicPr>
          <p:cNvPr id="173" name="Google Shape;173;p20" title="Weixin Screenshot_20250318182228.png"/>
          <p:cNvPicPr preferRelativeResize="0"/>
          <p:nvPr/>
        </p:nvPicPr>
        <p:blipFill>
          <a:blip r:embed="rId5">
            <a:alphaModFix/>
          </a:blip>
          <a:stretch>
            <a:fillRect/>
          </a:stretch>
        </p:blipFill>
        <p:spPr>
          <a:xfrm>
            <a:off x="8160025" y="142925"/>
            <a:ext cx="874800" cy="874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1"/>
          <p:cNvSpPr/>
          <p:nvPr/>
        </p:nvSpPr>
        <p:spPr>
          <a:xfrm>
            <a:off x="4112675" y="5047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Manual Data Download</a:t>
            </a:r>
            <a:endParaRPr/>
          </a:p>
        </p:txBody>
      </p:sp>
      <p:sp>
        <p:nvSpPr>
          <p:cNvPr id="179" name="Google Shape;179;p21"/>
          <p:cNvSpPr/>
          <p:nvPr/>
        </p:nvSpPr>
        <p:spPr>
          <a:xfrm>
            <a:off x="6807075" y="2310925"/>
            <a:ext cx="1873200" cy="4533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Auto API Data Download</a:t>
            </a:r>
            <a:endParaRPr b="1">
              <a:solidFill>
                <a:schemeClr val="lt1"/>
              </a:solidFill>
            </a:endParaRPr>
          </a:p>
        </p:txBody>
      </p:sp>
      <p:sp>
        <p:nvSpPr>
          <p:cNvPr id="180" name="Google Shape;180;p21"/>
          <p:cNvSpPr/>
          <p:nvPr/>
        </p:nvSpPr>
        <p:spPr>
          <a:xfrm>
            <a:off x="4112675" y="14078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Data Cleaning </a:t>
            </a:r>
            <a:endParaRPr/>
          </a:p>
          <a:p>
            <a:pPr marL="0" lvl="0" indent="0" algn="ctr" rtl="0">
              <a:spcBef>
                <a:spcPts val="0"/>
              </a:spcBef>
              <a:spcAft>
                <a:spcPts val="0"/>
              </a:spcAft>
              <a:buNone/>
            </a:pPr>
            <a:r>
              <a:rPr lang="en"/>
              <a:t>for EDA</a:t>
            </a:r>
            <a:endParaRPr/>
          </a:p>
        </p:txBody>
      </p:sp>
      <p:cxnSp>
        <p:nvCxnSpPr>
          <p:cNvPr id="181" name="Google Shape;181;p21"/>
          <p:cNvCxnSpPr>
            <a:stCxn id="178" idx="2"/>
            <a:endCxn id="180" idx="0"/>
          </p:cNvCxnSpPr>
          <p:nvPr/>
        </p:nvCxnSpPr>
        <p:spPr>
          <a:xfrm>
            <a:off x="5049275" y="9580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182" name="Google Shape;182;p21"/>
          <p:cNvSpPr/>
          <p:nvPr/>
        </p:nvSpPr>
        <p:spPr>
          <a:xfrm>
            <a:off x="4112675" y="23109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Exploratory Data</a:t>
            </a:r>
            <a:endParaRPr/>
          </a:p>
          <a:p>
            <a:pPr marL="0" lvl="0" indent="0" algn="ctr" rtl="0">
              <a:spcBef>
                <a:spcPts val="0"/>
              </a:spcBef>
              <a:spcAft>
                <a:spcPts val="0"/>
              </a:spcAft>
              <a:buNone/>
            </a:pPr>
            <a:r>
              <a:rPr lang="en"/>
              <a:t>Analysis</a:t>
            </a:r>
            <a:endParaRPr/>
          </a:p>
        </p:txBody>
      </p:sp>
      <p:cxnSp>
        <p:nvCxnSpPr>
          <p:cNvPr id="183" name="Google Shape;183;p21"/>
          <p:cNvCxnSpPr/>
          <p:nvPr/>
        </p:nvCxnSpPr>
        <p:spPr>
          <a:xfrm>
            <a:off x="5049275" y="18611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184" name="Google Shape;184;p21"/>
          <p:cNvSpPr/>
          <p:nvPr/>
        </p:nvSpPr>
        <p:spPr>
          <a:xfrm>
            <a:off x="4112675" y="32140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Data Aggregation </a:t>
            </a:r>
            <a:endParaRPr>
              <a:solidFill>
                <a:schemeClr val="dk1"/>
              </a:solidFill>
            </a:endParaRPr>
          </a:p>
          <a:p>
            <a:pPr marL="0" lvl="0" indent="0" algn="ctr" rtl="0">
              <a:spcBef>
                <a:spcPts val="0"/>
              </a:spcBef>
              <a:spcAft>
                <a:spcPts val="0"/>
              </a:spcAft>
              <a:buNone/>
            </a:pPr>
            <a:r>
              <a:rPr lang="en">
                <a:solidFill>
                  <a:schemeClr val="dk1"/>
                </a:solidFill>
              </a:rPr>
              <a:t>for Power BI</a:t>
            </a:r>
            <a:endParaRPr>
              <a:solidFill>
                <a:schemeClr val="dk1"/>
              </a:solidFill>
            </a:endParaRPr>
          </a:p>
        </p:txBody>
      </p:sp>
      <p:cxnSp>
        <p:nvCxnSpPr>
          <p:cNvPr id="185" name="Google Shape;185;p21"/>
          <p:cNvCxnSpPr/>
          <p:nvPr/>
        </p:nvCxnSpPr>
        <p:spPr>
          <a:xfrm>
            <a:off x="5049275" y="27642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186" name="Google Shape;186;p21"/>
          <p:cNvCxnSpPr/>
          <p:nvPr/>
        </p:nvCxnSpPr>
        <p:spPr>
          <a:xfrm>
            <a:off x="5056625" y="2955775"/>
            <a:ext cx="2698200" cy="7500"/>
          </a:xfrm>
          <a:prstGeom prst="straightConnector1">
            <a:avLst/>
          </a:prstGeom>
          <a:noFill/>
          <a:ln w="19050" cap="flat" cmpd="sng">
            <a:solidFill>
              <a:schemeClr val="dk2"/>
            </a:solidFill>
            <a:prstDash val="solid"/>
            <a:round/>
            <a:headEnd type="none" w="med" len="med"/>
            <a:tailEnd type="none" w="med" len="med"/>
          </a:ln>
        </p:spPr>
      </p:cxnSp>
      <p:sp>
        <p:nvSpPr>
          <p:cNvPr id="187" name="Google Shape;187;p21"/>
          <p:cNvSpPr/>
          <p:nvPr/>
        </p:nvSpPr>
        <p:spPr>
          <a:xfrm>
            <a:off x="4112675" y="41171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Power BI Dashboard</a:t>
            </a:r>
            <a:endParaRPr/>
          </a:p>
        </p:txBody>
      </p:sp>
      <p:cxnSp>
        <p:nvCxnSpPr>
          <p:cNvPr id="188" name="Google Shape;188;p21"/>
          <p:cNvCxnSpPr/>
          <p:nvPr/>
        </p:nvCxnSpPr>
        <p:spPr>
          <a:xfrm>
            <a:off x="5049275" y="36673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189" name="Google Shape;189;p21"/>
          <p:cNvCxnSpPr>
            <a:stCxn id="179" idx="2"/>
          </p:cNvCxnSpPr>
          <p:nvPr/>
        </p:nvCxnSpPr>
        <p:spPr>
          <a:xfrm flipH="1">
            <a:off x="7740075" y="2764225"/>
            <a:ext cx="3600" cy="198900"/>
          </a:xfrm>
          <a:prstGeom prst="straightConnector1">
            <a:avLst/>
          </a:prstGeom>
          <a:noFill/>
          <a:ln w="19050" cap="flat" cmpd="sng">
            <a:solidFill>
              <a:schemeClr val="dk2"/>
            </a:solidFill>
            <a:prstDash val="solid"/>
            <a:round/>
            <a:headEnd type="none" w="med" len="med"/>
            <a:tailEnd type="none" w="med" len="med"/>
          </a:ln>
        </p:spPr>
      </p:cxnSp>
      <p:sp>
        <p:nvSpPr>
          <p:cNvPr id="190" name="Google Shape;190;p21"/>
          <p:cNvSpPr txBox="1"/>
          <p:nvPr/>
        </p:nvSpPr>
        <p:spPr>
          <a:xfrm>
            <a:off x="148650" y="958025"/>
            <a:ext cx="47148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2. Batch API Download </a:t>
            </a:r>
            <a:endParaRPr sz="1800">
              <a:solidFill>
                <a:schemeClr val="dk1"/>
              </a:solidFill>
            </a:endParaRPr>
          </a:p>
          <a:p>
            <a:pPr marL="0" lvl="0" indent="0" algn="l" rtl="0">
              <a:spcBef>
                <a:spcPts val="0"/>
              </a:spcBef>
              <a:spcAft>
                <a:spcPts val="0"/>
              </a:spcAft>
              <a:buNone/>
            </a:pPr>
            <a:r>
              <a:rPr lang="en" sz="1800">
                <a:solidFill>
                  <a:schemeClr val="dk1"/>
                </a:solidFill>
              </a:rPr>
              <a:t>  (Daily Data for a Time Range)</a:t>
            </a:r>
            <a:endParaRPr sz="1800">
              <a:solidFill>
                <a:schemeClr val="dk1"/>
              </a:solidFill>
            </a:endParaRPr>
          </a:p>
        </p:txBody>
      </p:sp>
      <p:pic>
        <p:nvPicPr>
          <p:cNvPr id="191" name="Google Shape;191;p21"/>
          <p:cNvPicPr preferRelativeResize="0"/>
          <p:nvPr/>
        </p:nvPicPr>
        <p:blipFill>
          <a:blip r:embed="rId3">
            <a:alphaModFix/>
          </a:blip>
          <a:stretch>
            <a:fillRect/>
          </a:stretch>
        </p:blipFill>
        <p:spPr>
          <a:xfrm>
            <a:off x="189550" y="1642850"/>
            <a:ext cx="3807874" cy="2927577"/>
          </a:xfrm>
          <a:prstGeom prst="rect">
            <a:avLst/>
          </a:prstGeom>
          <a:noFill/>
          <a:ln>
            <a:noFill/>
          </a:ln>
        </p:spPr>
      </p:pic>
      <p:sp>
        <p:nvSpPr>
          <p:cNvPr id="192" name="Google Shape;192;p21"/>
          <p:cNvSpPr txBox="1">
            <a:spLocks noGrp="1"/>
          </p:cNvSpPr>
          <p:nvPr>
            <p:ph type="title"/>
          </p:nvPr>
        </p:nvSpPr>
        <p:spPr>
          <a:xfrm>
            <a:off x="311700" y="281500"/>
            <a:ext cx="28647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Methods</a:t>
            </a:r>
            <a:endParaRPr/>
          </a:p>
        </p:txBody>
      </p:sp>
      <p:pic>
        <p:nvPicPr>
          <p:cNvPr id="193" name="Google Shape;193;p21"/>
          <p:cNvPicPr preferRelativeResize="0"/>
          <p:nvPr/>
        </p:nvPicPr>
        <p:blipFill>
          <a:blip r:embed="rId4">
            <a:alphaModFix/>
          </a:blip>
          <a:stretch>
            <a:fillRect/>
          </a:stretch>
        </p:blipFill>
        <p:spPr>
          <a:xfrm>
            <a:off x="7213100" y="168200"/>
            <a:ext cx="824250" cy="824250"/>
          </a:xfrm>
          <a:prstGeom prst="rect">
            <a:avLst/>
          </a:prstGeom>
          <a:noFill/>
          <a:ln>
            <a:noFill/>
          </a:ln>
        </p:spPr>
      </p:pic>
      <p:pic>
        <p:nvPicPr>
          <p:cNvPr id="194" name="Google Shape;194;p21" title="Weixin Screenshot_20250318182228.png"/>
          <p:cNvPicPr preferRelativeResize="0"/>
          <p:nvPr/>
        </p:nvPicPr>
        <p:blipFill>
          <a:blip r:embed="rId5">
            <a:alphaModFix/>
          </a:blip>
          <a:stretch>
            <a:fillRect/>
          </a:stretch>
        </p:blipFill>
        <p:spPr>
          <a:xfrm>
            <a:off x="8160025" y="142925"/>
            <a:ext cx="874800" cy="874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Methods</a:t>
            </a:r>
            <a:endParaRPr/>
          </a:p>
        </p:txBody>
      </p:sp>
      <p:sp>
        <p:nvSpPr>
          <p:cNvPr id="200" name="Google Shape;200;p22"/>
          <p:cNvSpPr/>
          <p:nvPr/>
        </p:nvSpPr>
        <p:spPr>
          <a:xfrm>
            <a:off x="4112675" y="5047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Manual Data Download</a:t>
            </a:r>
            <a:endParaRPr/>
          </a:p>
        </p:txBody>
      </p:sp>
      <p:sp>
        <p:nvSpPr>
          <p:cNvPr id="201" name="Google Shape;201;p22"/>
          <p:cNvSpPr/>
          <p:nvPr/>
        </p:nvSpPr>
        <p:spPr>
          <a:xfrm>
            <a:off x="6807075" y="23109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Auto API Data Download</a:t>
            </a:r>
            <a:endParaRPr/>
          </a:p>
        </p:txBody>
      </p:sp>
      <p:sp>
        <p:nvSpPr>
          <p:cNvPr id="202" name="Google Shape;202;p22"/>
          <p:cNvSpPr/>
          <p:nvPr/>
        </p:nvSpPr>
        <p:spPr>
          <a:xfrm>
            <a:off x="4112675" y="14078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Data Cleaning </a:t>
            </a:r>
            <a:endParaRPr/>
          </a:p>
          <a:p>
            <a:pPr marL="0" lvl="0" indent="0" algn="ctr" rtl="0">
              <a:spcBef>
                <a:spcPts val="0"/>
              </a:spcBef>
              <a:spcAft>
                <a:spcPts val="0"/>
              </a:spcAft>
              <a:buNone/>
            </a:pPr>
            <a:r>
              <a:rPr lang="en"/>
              <a:t>for EDA</a:t>
            </a:r>
            <a:endParaRPr/>
          </a:p>
        </p:txBody>
      </p:sp>
      <p:cxnSp>
        <p:nvCxnSpPr>
          <p:cNvPr id="203" name="Google Shape;203;p22"/>
          <p:cNvCxnSpPr>
            <a:stCxn id="200" idx="2"/>
            <a:endCxn id="202" idx="0"/>
          </p:cNvCxnSpPr>
          <p:nvPr/>
        </p:nvCxnSpPr>
        <p:spPr>
          <a:xfrm>
            <a:off x="5049275" y="9580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204" name="Google Shape;204;p22"/>
          <p:cNvSpPr/>
          <p:nvPr/>
        </p:nvSpPr>
        <p:spPr>
          <a:xfrm>
            <a:off x="4112675" y="23109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Exploratory Data</a:t>
            </a:r>
            <a:endParaRPr/>
          </a:p>
          <a:p>
            <a:pPr marL="0" lvl="0" indent="0" algn="ctr" rtl="0">
              <a:spcBef>
                <a:spcPts val="0"/>
              </a:spcBef>
              <a:spcAft>
                <a:spcPts val="0"/>
              </a:spcAft>
              <a:buNone/>
            </a:pPr>
            <a:r>
              <a:rPr lang="en"/>
              <a:t>Analysis</a:t>
            </a:r>
            <a:endParaRPr/>
          </a:p>
        </p:txBody>
      </p:sp>
      <p:cxnSp>
        <p:nvCxnSpPr>
          <p:cNvPr id="205" name="Google Shape;205;p22"/>
          <p:cNvCxnSpPr/>
          <p:nvPr/>
        </p:nvCxnSpPr>
        <p:spPr>
          <a:xfrm>
            <a:off x="5049275" y="18611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206" name="Google Shape;206;p22"/>
          <p:cNvSpPr/>
          <p:nvPr/>
        </p:nvSpPr>
        <p:spPr>
          <a:xfrm>
            <a:off x="4112675" y="3214025"/>
            <a:ext cx="1873200" cy="4533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Data Aggregation for Power BI</a:t>
            </a:r>
            <a:endParaRPr b="1">
              <a:solidFill>
                <a:schemeClr val="lt1"/>
              </a:solidFill>
            </a:endParaRPr>
          </a:p>
        </p:txBody>
      </p:sp>
      <p:cxnSp>
        <p:nvCxnSpPr>
          <p:cNvPr id="207" name="Google Shape;207;p22"/>
          <p:cNvCxnSpPr/>
          <p:nvPr/>
        </p:nvCxnSpPr>
        <p:spPr>
          <a:xfrm>
            <a:off x="5049275" y="27642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208" name="Google Shape;208;p22"/>
          <p:cNvCxnSpPr/>
          <p:nvPr/>
        </p:nvCxnSpPr>
        <p:spPr>
          <a:xfrm>
            <a:off x="5056625" y="2955775"/>
            <a:ext cx="2698200" cy="7500"/>
          </a:xfrm>
          <a:prstGeom prst="straightConnector1">
            <a:avLst/>
          </a:prstGeom>
          <a:noFill/>
          <a:ln w="19050" cap="flat" cmpd="sng">
            <a:solidFill>
              <a:schemeClr val="dk2"/>
            </a:solidFill>
            <a:prstDash val="solid"/>
            <a:round/>
            <a:headEnd type="none" w="med" len="med"/>
            <a:tailEnd type="none" w="med" len="med"/>
          </a:ln>
        </p:spPr>
      </p:cxnSp>
      <p:sp>
        <p:nvSpPr>
          <p:cNvPr id="209" name="Google Shape;209;p22"/>
          <p:cNvSpPr/>
          <p:nvPr/>
        </p:nvSpPr>
        <p:spPr>
          <a:xfrm>
            <a:off x="4112675" y="41171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Power BI Dashboard</a:t>
            </a:r>
            <a:endParaRPr/>
          </a:p>
        </p:txBody>
      </p:sp>
      <p:cxnSp>
        <p:nvCxnSpPr>
          <p:cNvPr id="210" name="Google Shape;210;p22"/>
          <p:cNvCxnSpPr/>
          <p:nvPr/>
        </p:nvCxnSpPr>
        <p:spPr>
          <a:xfrm>
            <a:off x="5049275" y="36673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211" name="Google Shape;211;p22"/>
          <p:cNvCxnSpPr>
            <a:stCxn id="201" idx="2"/>
          </p:cNvCxnSpPr>
          <p:nvPr/>
        </p:nvCxnSpPr>
        <p:spPr>
          <a:xfrm flipH="1">
            <a:off x="7740075" y="2764225"/>
            <a:ext cx="3600" cy="198900"/>
          </a:xfrm>
          <a:prstGeom prst="straightConnector1">
            <a:avLst/>
          </a:prstGeom>
          <a:noFill/>
          <a:ln w="19050" cap="flat" cmpd="sng">
            <a:solidFill>
              <a:schemeClr val="dk2"/>
            </a:solidFill>
            <a:prstDash val="solid"/>
            <a:round/>
            <a:headEnd type="none" w="med" len="med"/>
            <a:tailEnd type="none" w="med" len="med"/>
          </a:ln>
        </p:spPr>
      </p:cxnSp>
      <p:sp>
        <p:nvSpPr>
          <p:cNvPr id="212" name="Google Shape;212;p22"/>
          <p:cNvSpPr txBox="1"/>
          <p:nvPr/>
        </p:nvSpPr>
        <p:spPr>
          <a:xfrm>
            <a:off x="311700" y="1186625"/>
            <a:ext cx="3481500" cy="241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a:solidFill>
                  <a:schemeClr val="dk1"/>
                </a:solidFill>
              </a:rPr>
              <a:t>1. Covered the Data from        2021 to 2025 </a:t>
            </a:r>
            <a:endParaRPr sz="1800">
              <a:solidFill>
                <a:schemeClr val="dk1"/>
              </a:solidFill>
            </a:endParaRPr>
          </a:p>
          <a:p>
            <a:pPr marL="0" lvl="0" indent="0" algn="l" rtl="0">
              <a:lnSpc>
                <a:spcPct val="115000"/>
              </a:lnSpc>
              <a:spcBef>
                <a:spcPts val="1400"/>
              </a:spcBef>
              <a:spcAft>
                <a:spcPts val="0"/>
              </a:spcAft>
              <a:buNone/>
            </a:pPr>
            <a:r>
              <a:rPr lang="en" sz="1800">
                <a:solidFill>
                  <a:schemeClr val="dk1"/>
                </a:solidFill>
              </a:rPr>
              <a:t>2. Adjust the data format for Power BI</a:t>
            </a:r>
            <a:endParaRPr sz="1800">
              <a:solidFill>
                <a:schemeClr val="dk1"/>
              </a:solidFill>
            </a:endParaRPr>
          </a:p>
          <a:p>
            <a:pPr marL="0" lvl="0" indent="0" algn="l" rtl="0">
              <a:lnSpc>
                <a:spcPct val="115000"/>
              </a:lnSpc>
              <a:spcBef>
                <a:spcPts val="1400"/>
              </a:spcBef>
              <a:spcAft>
                <a:spcPts val="400"/>
              </a:spcAft>
              <a:buNone/>
            </a:pPr>
            <a:r>
              <a:rPr lang="en" sz="1800">
                <a:solidFill>
                  <a:schemeClr val="dk1"/>
                </a:solidFill>
              </a:rPr>
              <a:t>3. Aggregated the Datasets, and exporting them to CSV files</a:t>
            </a:r>
            <a:endParaRPr sz="1800">
              <a:solidFill>
                <a:schemeClr val="dk1"/>
              </a:solidFill>
            </a:endParaRPr>
          </a:p>
        </p:txBody>
      </p:sp>
      <p:pic>
        <p:nvPicPr>
          <p:cNvPr id="213" name="Google Shape;213;p22"/>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214" name="Google Shape;214;p22"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Methods</a:t>
            </a:r>
            <a:endParaRPr/>
          </a:p>
        </p:txBody>
      </p:sp>
      <p:sp>
        <p:nvSpPr>
          <p:cNvPr id="220" name="Google Shape;220;p23"/>
          <p:cNvSpPr/>
          <p:nvPr/>
        </p:nvSpPr>
        <p:spPr>
          <a:xfrm>
            <a:off x="4112675" y="5047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Manual Data Download</a:t>
            </a:r>
            <a:endParaRPr/>
          </a:p>
        </p:txBody>
      </p:sp>
      <p:sp>
        <p:nvSpPr>
          <p:cNvPr id="221" name="Google Shape;221;p23"/>
          <p:cNvSpPr/>
          <p:nvPr/>
        </p:nvSpPr>
        <p:spPr>
          <a:xfrm>
            <a:off x="6807075" y="23109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Auto API Data Download</a:t>
            </a:r>
            <a:endParaRPr/>
          </a:p>
        </p:txBody>
      </p:sp>
      <p:sp>
        <p:nvSpPr>
          <p:cNvPr id="222" name="Google Shape;222;p23"/>
          <p:cNvSpPr/>
          <p:nvPr/>
        </p:nvSpPr>
        <p:spPr>
          <a:xfrm>
            <a:off x="4112675" y="14078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Data Cleaning </a:t>
            </a:r>
            <a:endParaRPr/>
          </a:p>
          <a:p>
            <a:pPr marL="0" lvl="0" indent="0" algn="ctr" rtl="0">
              <a:spcBef>
                <a:spcPts val="0"/>
              </a:spcBef>
              <a:spcAft>
                <a:spcPts val="0"/>
              </a:spcAft>
              <a:buNone/>
            </a:pPr>
            <a:r>
              <a:rPr lang="en"/>
              <a:t>for EDA</a:t>
            </a:r>
            <a:endParaRPr/>
          </a:p>
        </p:txBody>
      </p:sp>
      <p:cxnSp>
        <p:nvCxnSpPr>
          <p:cNvPr id="223" name="Google Shape;223;p23"/>
          <p:cNvCxnSpPr>
            <a:stCxn id="220" idx="2"/>
            <a:endCxn id="222" idx="0"/>
          </p:cNvCxnSpPr>
          <p:nvPr/>
        </p:nvCxnSpPr>
        <p:spPr>
          <a:xfrm>
            <a:off x="5049275" y="9580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224" name="Google Shape;224;p23"/>
          <p:cNvSpPr/>
          <p:nvPr/>
        </p:nvSpPr>
        <p:spPr>
          <a:xfrm>
            <a:off x="4112675" y="2310925"/>
            <a:ext cx="1873200" cy="453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Exploratory Data</a:t>
            </a:r>
            <a:endParaRPr/>
          </a:p>
          <a:p>
            <a:pPr marL="0" lvl="0" indent="0" algn="ctr" rtl="0">
              <a:spcBef>
                <a:spcPts val="0"/>
              </a:spcBef>
              <a:spcAft>
                <a:spcPts val="0"/>
              </a:spcAft>
              <a:buNone/>
            </a:pPr>
            <a:r>
              <a:rPr lang="en"/>
              <a:t>Analysis</a:t>
            </a:r>
            <a:endParaRPr/>
          </a:p>
        </p:txBody>
      </p:sp>
      <p:cxnSp>
        <p:nvCxnSpPr>
          <p:cNvPr id="225" name="Google Shape;225;p23"/>
          <p:cNvCxnSpPr/>
          <p:nvPr/>
        </p:nvCxnSpPr>
        <p:spPr>
          <a:xfrm>
            <a:off x="5049275" y="1861125"/>
            <a:ext cx="0" cy="449700"/>
          </a:xfrm>
          <a:prstGeom prst="straightConnector1">
            <a:avLst/>
          </a:prstGeom>
          <a:noFill/>
          <a:ln w="19050" cap="flat" cmpd="sng">
            <a:solidFill>
              <a:schemeClr val="dk2"/>
            </a:solidFill>
            <a:prstDash val="solid"/>
            <a:round/>
            <a:headEnd type="none" w="med" len="med"/>
            <a:tailEnd type="triangle" w="med" len="med"/>
          </a:ln>
        </p:spPr>
      </p:cxnSp>
      <p:sp>
        <p:nvSpPr>
          <p:cNvPr id="226" name="Google Shape;226;p23"/>
          <p:cNvSpPr/>
          <p:nvPr/>
        </p:nvSpPr>
        <p:spPr>
          <a:xfrm>
            <a:off x="4112675" y="3214025"/>
            <a:ext cx="1873200" cy="453300"/>
          </a:xfrm>
          <a:prstGeom prst="rect">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Data Aggregation </a:t>
            </a:r>
            <a:endParaRPr>
              <a:solidFill>
                <a:schemeClr val="dk1"/>
              </a:solidFill>
            </a:endParaRPr>
          </a:p>
          <a:p>
            <a:pPr marL="0" lvl="0" indent="0" algn="ctr" rtl="0">
              <a:spcBef>
                <a:spcPts val="0"/>
              </a:spcBef>
              <a:spcAft>
                <a:spcPts val="0"/>
              </a:spcAft>
              <a:buNone/>
            </a:pPr>
            <a:r>
              <a:rPr lang="en">
                <a:solidFill>
                  <a:schemeClr val="dk1"/>
                </a:solidFill>
              </a:rPr>
              <a:t>for Power BI</a:t>
            </a:r>
            <a:endParaRPr>
              <a:solidFill>
                <a:schemeClr val="dk1"/>
              </a:solidFill>
            </a:endParaRPr>
          </a:p>
        </p:txBody>
      </p:sp>
      <p:cxnSp>
        <p:nvCxnSpPr>
          <p:cNvPr id="227" name="Google Shape;227;p23"/>
          <p:cNvCxnSpPr/>
          <p:nvPr/>
        </p:nvCxnSpPr>
        <p:spPr>
          <a:xfrm>
            <a:off x="5049275" y="27642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228" name="Google Shape;228;p23"/>
          <p:cNvCxnSpPr/>
          <p:nvPr/>
        </p:nvCxnSpPr>
        <p:spPr>
          <a:xfrm>
            <a:off x="5056625" y="2955775"/>
            <a:ext cx="2698200" cy="7500"/>
          </a:xfrm>
          <a:prstGeom prst="straightConnector1">
            <a:avLst/>
          </a:prstGeom>
          <a:noFill/>
          <a:ln w="19050" cap="flat" cmpd="sng">
            <a:solidFill>
              <a:schemeClr val="dk2"/>
            </a:solidFill>
            <a:prstDash val="solid"/>
            <a:round/>
            <a:headEnd type="none" w="med" len="med"/>
            <a:tailEnd type="none" w="med" len="med"/>
          </a:ln>
        </p:spPr>
      </p:cxnSp>
      <p:sp>
        <p:nvSpPr>
          <p:cNvPr id="229" name="Google Shape;229;p23"/>
          <p:cNvSpPr/>
          <p:nvPr/>
        </p:nvSpPr>
        <p:spPr>
          <a:xfrm>
            <a:off x="4112675" y="4117125"/>
            <a:ext cx="1873200" cy="453300"/>
          </a:xfrm>
          <a:prstGeom prst="rect">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Power BI Dashboard</a:t>
            </a:r>
            <a:endParaRPr b="1">
              <a:solidFill>
                <a:schemeClr val="lt1"/>
              </a:solidFill>
            </a:endParaRPr>
          </a:p>
        </p:txBody>
      </p:sp>
      <p:cxnSp>
        <p:nvCxnSpPr>
          <p:cNvPr id="230" name="Google Shape;230;p23"/>
          <p:cNvCxnSpPr/>
          <p:nvPr/>
        </p:nvCxnSpPr>
        <p:spPr>
          <a:xfrm>
            <a:off x="5049275" y="3667325"/>
            <a:ext cx="0" cy="449700"/>
          </a:xfrm>
          <a:prstGeom prst="straightConnector1">
            <a:avLst/>
          </a:prstGeom>
          <a:noFill/>
          <a:ln w="19050" cap="flat" cmpd="sng">
            <a:solidFill>
              <a:schemeClr val="dk2"/>
            </a:solidFill>
            <a:prstDash val="solid"/>
            <a:round/>
            <a:headEnd type="none" w="med" len="med"/>
            <a:tailEnd type="triangle" w="med" len="med"/>
          </a:ln>
        </p:spPr>
      </p:cxnSp>
      <p:cxnSp>
        <p:nvCxnSpPr>
          <p:cNvPr id="231" name="Google Shape;231;p23"/>
          <p:cNvCxnSpPr>
            <a:stCxn id="221" idx="2"/>
          </p:cNvCxnSpPr>
          <p:nvPr/>
        </p:nvCxnSpPr>
        <p:spPr>
          <a:xfrm flipH="1">
            <a:off x="7740075" y="2764225"/>
            <a:ext cx="3600" cy="198900"/>
          </a:xfrm>
          <a:prstGeom prst="straightConnector1">
            <a:avLst/>
          </a:prstGeom>
          <a:noFill/>
          <a:ln w="19050" cap="flat" cmpd="sng">
            <a:solidFill>
              <a:schemeClr val="dk2"/>
            </a:solidFill>
            <a:prstDash val="solid"/>
            <a:round/>
            <a:headEnd type="none" w="med" len="med"/>
            <a:tailEnd type="none" w="med" len="med"/>
          </a:ln>
        </p:spPr>
      </p:cxnSp>
      <p:sp>
        <p:nvSpPr>
          <p:cNvPr id="232" name="Google Shape;232;p23"/>
          <p:cNvSpPr txBox="1"/>
          <p:nvPr/>
        </p:nvSpPr>
        <p:spPr>
          <a:xfrm>
            <a:off x="222275" y="1017725"/>
            <a:ext cx="3890400" cy="17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800">
                <a:solidFill>
                  <a:schemeClr val="dk1"/>
                </a:solidFill>
              </a:rPr>
              <a:t>1. Imported the dataset and made functions for different KPIs</a:t>
            </a:r>
            <a:endParaRPr sz="1800">
              <a:solidFill>
                <a:schemeClr val="dk1"/>
              </a:solidFill>
            </a:endParaRPr>
          </a:p>
          <a:p>
            <a:pPr marL="0" lvl="0" indent="0" algn="l" rtl="0">
              <a:lnSpc>
                <a:spcPct val="115000"/>
              </a:lnSpc>
              <a:spcBef>
                <a:spcPts val="1400"/>
              </a:spcBef>
              <a:spcAft>
                <a:spcPts val="0"/>
              </a:spcAft>
              <a:buNone/>
            </a:pPr>
            <a:r>
              <a:rPr lang="en" sz="1800">
                <a:solidFill>
                  <a:schemeClr val="dk1"/>
                </a:solidFill>
              </a:rPr>
              <a:t>2. Created several functional areas</a:t>
            </a:r>
            <a:endParaRPr sz="1800">
              <a:solidFill>
                <a:schemeClr val="dk1"/>
              </a:solidFill>
            </a:endParaRPr>
          </a:p>
          <a:p>
            <a:pPr marL="0" lvl="0" indent="0" algn="l" rtl="0">
              <a:lnSpc>
                <a:spcPct val="115000"/>
              </a:lnSpc>
              <a:spcBef>
                <a:spcPts val="1400"/>
              </a:spcBef>
              <a:spcAft>
                <a:spcPts val="400"/>
              </a:spcAft>
              <a:buNone/>
            </a:pPr>
            <a:r>
              <a:rPr lang="en" sz="1800">
                <a:solidFill>
                  <a:schemeClr val="dk1"/>
                </a:solidFill>
              </a:rPr>
              <a:t>3. Designed the Power BI UI</a:t>
            </a:r>
            <a:endParaRPr sz="1800">
              <a:solidFill>
                <a:schemeClr val="dk1"/>
              </a:solidFill>
            </a:endParaRPr>
          </a:p>
        </p:txBody>
      </p:sp>
      <p:sp>
        <p:nvSpPr>
          <p:cNvPr id="233" name="Google Shape;233;p23"/>
          <p:cNvSpPr txBox="1"/>
          <p:nvPr/>
        </p:nvSpPr>
        <p:spPr>
          <a:xfrm>
            <a:off x="386075" y="3356725"/>
            <a:ext cx="35628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hlinkClick r:id="rId3"/>
              </a:rPr>
              <a:t>https://app.powerbi.com/links/YyIsLznIq1?ctid=a8eec281-aaa3-4dae-ac9b-9a398b9215e7&amp;pbi_source=linkShare&amp;bookmarkGuid=220104ac-302d-4398-a9e6-da34e27b8854</a:t>
            </a:r>
            <a:endParaRPr sz="1600"/>
          </a:p>
        </p:txBody>
      </p:sp>
      <p:sp>
        <p:nvSpPr>
          <p:cNvPr id="234" name="Google Shape;234;p23"/>
          <p:cNvSpPr txBox="1"/>
          <p:nvPr/>
        </p:nvSpPr>
        <p:spPr>
          <a:xfrm>
            <a:off x="309875" y="2936425"/>
            <a:ext cx="3077100" cy="45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Overview of Dashboard:</a:t>
            </a:r>
            <a:endParaRPr sz="1800">
              <a:solidFill>
                <a:schemeClr val="dk2"/>
              </a:solidFill>
            </a:endParaRPr>
          </a:p>
        </p:txBody>
      </p:sp>
      <p:pic>
        <p:nvPicPr>
          <p:cNvPr id="235" name="Google Shape;235;p23"/>
          <p:cNvPicPr preferRelativeResize="0"/>
          <p:nvPr/>
        </p:nvPicPr>
        <p:blipFill>
          <a:blip r:embed="rId4">
            <a:alphaModFix/>
          </a:blip>
          <a:stretch>
            <a:fillRect/>
          </a:stretch>
        </p:blipFill>
        <p:spPr>
          <a:xfrm>
            <a:off x="7213100" y="168200"/>
            <a:ext cx="824250" cy="824250"/>
          </a:xfrm>
          <a:prstGeom prst="rect">
            <a:avLst/>
          </a:prstGeom>
          <a:noFill/>
          <a:ln>
            <a:noFill/>
          </a:ln>
        </p:spPr>
      </p:pic>
      <p:pic>
        <p:nvPicPr>
          <p:cNvPr id="236" name="Google Shape;236;p23" title="Weixin Screenshot_20250318182228.png"/>
          <p:cNvPicPr preferRelativeResize="0"/>
          <p:nvPr/>
        </p:nvPicPr>
        <p:blipFill>
          <a:blip r:embed="rId5">
            <a:alphaModFix/>
          </a:blip>
          <a:stretch>
            <a:fillRect/>
          </a:stretch>
        </p:blipFill>
        <p:spPr>
          <a:xfrm>
            <a:off x="8160025" y="142925"/>
            <a:ext cx="874800" cy="874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Predictive Models</a:t>
            </a:r>
            <a:endParaRPr/>
          </a:p>
        </p:txBody>
      </p:sp>
      <p:sp>
        <p:nvSpPr>
          <p:cNvPr id="242" name="Google Shape;242;p24"/>
          <p:cNvSpPr txBox="1">
            <a:spLocks noGrp="1"/>
          </p:cNvSpPr>
          <p:nvPr>
            <p:ph type="body" idx="1"/>
          </p:nvPr>
        </p:nvSpPr>
        <p:spPr>
          <a:xfrm>
            <a:off x="311700" y="1017725"/>
            <a:ext cx="8520600" cy="3987000"/>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0"/>
              </a:spcAft>
              <a:buNone/>
            </a:pPr>
            <a:r>
              <a:rPr lang="en" sz="1308">
                <a:solidFill>
                  <a:schemeClr val="dk1"/>
                </a:solidFill>
              </a:rPr>
              <a:t>Utilized advanced analytics techniques to identify high-risk neighborhoods and predict future trends in service requests, enabling targeted interventions.</a:t>
            </a:r>
            <a:endParaRPr/>
          </a:p>
          <a:p>
            <a:pPr marL="0" lvl="0" indent="0" algn="just" rtl="0">
              <a:spcBef>
                <a:spcPts val="1200"/>
              </a:spcBef>
              <a:spcAft>
                <a:spcPts val="0"/>
              </a:spcAft>
              <a:buClr>
                <a:schemeClr val="dk1"/>
              </a:buClr>
              <a:buSzPts val="1100"/>
              <a:buFont typeface="Arial"/>
              <a:buNone/>
            </a:pPr>
            <a:r>
              <a:rPr lang="en" sz="1308" b="1">
                <a:solidFill>
                  <a:schemeClr val="dk1"/>
                </a:solidFill>
              </a:rPr>
              <a:t>K-Means Clustering</a:t>
            </a:r>
            <a:endParaRPr sz="1308" b="1">
              <a:solidFill>
                <a:schemeClr val="dk1"/>
              </a:solidFill>
            </a:endParaRPr>
          </a:p>
          <a:p>
            <a:pPr marL="457200" lvl="0" indent="-311665" algn="just" rtl="0">
              <a:spcBef>
                <a:spcPts val="1200"/>
              </a:spcBef>
              <a:spcAft>
                <a:spcPts val="0"/>
              </a:spcAft>
              <a:buClr>
                <a:schemeClr val="dk1"/>
              </a:buClr>
              <a:buSzPts val="1308"/>
              <a:buChar char="●"/>
            </a:pPr>
            <a:r>
              <a:rPr lang="en" sz="1308" b="1">
                <a:solidFill>
                  <a:schemeClr val="dk1"/>
                </a:solidFill>
              </a:rPr>
              <a:t>Purpose</a:t>
            </a:r>
            <a:r>
              <a:rPr lang="en" sz="1308">
                <a:solidFill>
                  <a:schemeClr val="dk1"/>
                </a:solidFill>
              </a:rPr>
              <a:t>: Identify distinct clusters of neighborhoods based on risk factors such as crime rates, emergency calls, and socio-economic indicators.</a:t>
            </a:r>
            <a:endParaRPr sz="1308">
              <a:solidFill>
                <a:schemeClr val="dk1"/>
              </a:solidFill>
            </a:endParaRPr>
          </a:p>
          <a:p>
            <a:pPr marL="457200" lvl="0" indent="-311665" algn="just" rtl="0">
              <a:spcBef>
                <a:spcPts val="0"/>
              </a:spcBef>
              <a:spcAft>
                <a:spcPts val="0"/>
              </a:spcAft>
              <a:buClr>
                <a:schemeClr val="dk1"/>
              </a:buClr>
              <a:buSzPts val="1308"/>
              <a:buChar char="●"/>
            </a:pPr>
            <a:r>
              <a:rPr lang="en" sz="1308" b="1">
                <a:solidFill>
                  <a:schemeClr val="dk1"/>
                </a:solidFill>
              </a:rPr>
              <a:t>Process</a:t>
            </a:r>
            <a:r>
              <a:rPr lang="en" sz="1308">
                <a:solidFill>
                  <a:schemeClr val="dk1"/>
                </a:solidFill>
              </a:rPr>
              <a:t>: Apply the K-Means clustering algorithm to segment neighborhoods into groups. This helps in understanding different risk profiles and tailoring safety measures appropriately.</a:t>
            </a:r>
            <a:endParaRPr sz="1308">
              <a:solidFill>
                <a:schemeClr val="dk1"/>
              </a:solidFill>
            </a:endParaRPr>
          </a:p>
          <a:p>
            <a:pPr marL="0" lvl="0" indent="0" algn="just" rtl="0">
              <a:spcBef>
                <a:spcPts val="1200"/>
              </a:spcBef>
              <a:spcAft>
                <a:spcPts val="0"/>
              </a:spcAft>
              <a:buClr>
                <a:schemeClr val="dk1"/>
              </a:buClr>
              <a:buSzPts val="1100"/>
              <a:buFont typeface="Arial"/>
              <a:buNone/>
            </a:pPr>
            <a:r>
              <a:rPr lang="en" sz="1308" b="1">
                <a:solidFill>
                  <a:schemeClr val="dk1"/>
                </a:solidFill>
              </a:rPr>
              <a:t>SARIMA Time-Series Forecasting</a:t>
            </a:r>
            <a:endParaRPr sz="1308" b="1">
              <a:solidFill>
                <a:schemeClr val="dk1"/>
              </a:solidFill>
            </a:endParaRPr>
          </a:p>
          <a:p>
            <a:pPr marL="457200" lvl="0" indent="-311665" algn="just" rtl="0">
              <a:spcBef>
                <a:spcPts val="1200"/>
              </a:spcBef>
              <a:spcAft>
                <a:spcPts val="0"/>
              </a:spcAft>
              <a:buClr>
                <a:schemeClr val="dk1"/>
              </a:buClr>
              <a:buSzPts val="1308"/>
              <a:buChar char="●"/>
            </a:pPr>
            <a:r>
              <a:rPr lang="en" sz="1308" b="1">
                <a:solidFill>
                  <a:schemeClr val="dk1"/>
                </a:solidFill>
              </a:rPr>
              <a:t>Purpose</a:t>
            </a:r>
            <a:r>
              <a:rPr lang="en" sz="1308">
                <a:solidFill>
                  <a:schemeClr val="dk1"/>
                </a:solidFill>
              </a:rPr>
              <a:t>: Predict future trends in community service requests, such as public safety or maintenance needs.</a:t>
            </a:r>
            <a:endParaRPr sz="1308">
              <a:solidFill>
                <a:schemeClr val="dk1"/>
              </a:solidFill>
            </a:endParaRPr>
          </a:p>
          <a:p>
            <a:pPr marL="457200" lvl="0" indent="-311665" algn="just" rtl="0">
              <a:spcBef>
                <a:spcPts val="0"/>
              </a:spcBef>
              <a:spcAft>
                <a:spcPts val="0"/>
              </a:spcAft>
              <a:buClr>
                <a:schemeClr val="dk1"/>
              </a:buClr>
              <a:buSzPts val="1308"/>
              <a:buChar char="●"/>
            </a:pPr>
            <a:r>
              <a:rPr lang="en" sz="1308" b="1">
                <a:solidFill>
                  <a:schemeClr val="dk1"/>
                </a:solidFill>
              </a:rPr>
              <a:t>Process</a:t>
            </a:r>
            <a:r>
              <a:rPr lang="en" sz="1308">
                <a:solidFill>
                  <a:schemeClr val="dk1"/>
                </a:solidFill>
              </a:rPr>
              <a:t>: Develop a SARIMA (Seasonal AutoRegressive Integrated Moving Average) model to forecast the volume of requests. This model considers both seasonal variations and underlying trends, providing a robust prediction mechanism.</a:t>
            </a:r>
            <a:endParaRPr sz="1308">
              <a:solidFill>
                <a:schemeClr val="dk1"/>
              </a:solidFill>
            </a:endParaRPr>
          </a:p>
          <a:p>
            <a:pPr marL="0" lvl="0" indent="0" algn="l" rtl="0">
              <a:spcBef>
                <a:spcPts val="1200"/>
              </a:spcBef>
              <a:spcAft>
                <a:spcPts val="1200"/>
              </a:spcAft>
              <a:buNone/>
            </a:pPr>
            <a:endParaRPr/>
          </a:p>
        </p:txBody>
      </p:sp>
      <p:pic>
        <p:nvPicPr>
          <p:cNvPr id="243" name="Google Shape;243;p24"/>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244" name="Google Shape;244;p24"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5"/>
          <p:cNvSpPr txBox="1">
            <a:spLocks noGrp="1"/>
          </p:cNvSpPr>
          <p:nvPr>
            <p:ph type="title"/>
          </p:nvPr>
        </p:nvSpPr>
        <p:spPr>
          <a:xfrm>
            <a:off x="311700" y="2042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K-Means Clustering</a:t>
            </a:r>
            <a:endParaRPr/>
          </a:p>
        </p:txBody>
      </p:sp>
      <p:sp>
        <p:nvSpPr>
          <p:cNvPr id="250" name="Google Shape;250;p25"/>
          <p:cNvSpPr txBox="1">
            <a:spLocks noGrp="1"/>
          </p:cNvSpPr>
          <p:nvPr>
            <p:ph type="body" idx="1"/>
          </p:nvPr>
        </p:nvSpPr>
        <p:spPr>
          <a:xfrm>
            <a:off x="0" y="490649"/>
            <a:ext cx="4349400" cy="3990900"/>
          </a:xfrm>
          <a:prstGeom prst="rect">
            <a:avLst/>
          </a:prstGeom>
        </p:spPr>
        <p:txBody>
          <a:bodyPr spcFirstLastPara="1" wrap="square" lIns="91425" tIns="91425" rIns="91425" bIns="91425" anchor="t" anchorCtr="0">
            <a:noAutofit/>
          </a:bodyPr>
          <a:lstStyle/>
          <a:p>
            <a:pPr marL="457200" marR="0" lvl="0" indent="-311827" algn="just" rtl="0">
              <a:lnSpc>
                <a:spcPct val="115000"/>
              </a:lnSpc>
              <a:spcBef>
                <a:spcPts val="1200"/>
              </a:spcBef>
              <a:spcAft>
                <a:spcPts val="0"/>
              </a:spcAft>
              <a:buClr>
                <a:schemeClr val="dk1"/>
              </a:buClr>
              <a:buSzPts val="1311"/>
              <a:buChar char="●"/>
            </a:pPr>
            <a:r>
              <a:rPr lang="en" sz="1310" dirty="0">
                <a:solidFill>
                  <a:schemeClr val="dk1"/>
                </a:solidFill>
              </a:rPr>
              <a:t>This map uses K-Means machine learning to segment syringe disposal requests into five clusters, with each color indicating a different group of similar locations.</a:t>
            </a:r>
            <a:endParaRPr sz="1310" dirty="0">
              <a:solidFill>
                <a:schemeClr val="dk1"/>
              </a:solidFill>
            </a:endParaRPr>
          </a:p>
          <a:p>
            <a:pPr marL="457200" marR="0" lvl="0" indent="-311827" algn="just" rtl="0">
              <a:lnSpc>
                <a:spcPct val="115000"/>
              </a:lnSpc>
              <a:spcBef>
                <a:spcPts val="0"/>
              </a:spcBef>
              <a:spcAft>
                <a:spcPts val="0"/>
              </a:spcAft>
              <a:buClr>
                <a:schemeClr val="dk1"/>
              </a:buClr>
              <a:buSzPts val="1311"/>
              <a:buChar char="●"/>
            </a:pPr>
            <a:r>
              <a:rPr lang="en" sz="1310" dirty="0">
                <a:solidFill>
                  <a:schemeClr val="dk1"/>
                </a:solidFill>
              </a:rPr>
              <a:t>Clusters show varied concentrations: dense clusters indicate hotspots, border zones suggest transitional areas needing more services, and distant clusters highlight isolated cases for targeted interventions.</a:t>
            </a:r>
            <a:endParaRPr sz="1310" dirty="0">
              <a:solidFill>
                <a:schemeClr val="dk1"/>
              </a:solidFill>
            </a:endParaRPr>
          </a:p>
          <a:p>
            <a:pPr marL="457200" marR="0" lvl="0" indent="-311827" algn="just" rtl="0">
              <a:lnSpc>
                <a:spcPct val="115000"/>
              </a:lnSpc>
              <a:spcBef>
                <a:spcPts val="0"/>
              </a:spcBef>
              <a:spcAft>
                <a:spcPts val="0"/>
              </a:spcAft>
              <a:buClr>
                <a:schemeClr val="dk1"/>
              </a:buClr>
              <a:buSzPts val="1311"/>
              <a:buChar char="●"/>
            </a:pPr>
            <a:r>
              <a:rPr lang="en" sz="1310" dirty="0">
                <a:solidFill>
                  <a:schemeClr val="dk1"/>
                </a:solidFill>
              </a:rPr>
              <a:t>This analysis aids in resource allocation by prioritizing high-need zones for syringe disposal, informing policy on bin placement and outreach, and guiding public health strategies for effective harm reduction.</a:t>
            </a:r>
            <a:endParaRPr sz="1310" dirty="0">
              <a:solidFill>
                <a:schemeClr val="dk1"/>
              </a:solidFill>
            </a:endParaRPr>
          </a:p>
          <a:p>
            <a:pPr marL="457200" lvl="0" indent="-311827" algn="just" rtl="0">
              <a:spcBef>
                <a:spcPts val="0"/>
              </a:spcBef>
              <a:spcAft>
                <a:spcPts val="0"/>
              </a:spcAft>
              <a:buClr>
                <a:schemeClr val="dk1"/>
              </a:buClr>
              <a:buSzPts val="1311"/>
              <a:buChar char="●"/>
            </a:pPr>
            <a:r>
              <a:rPr lang="en" sz="1310" dirty="0">
                <a:solidFill>
                  <a:schemeClr val="dk1"/>
                </a:solidFill>
              </a:rPr>
              <a:t>Next steps include increasing disposal stations in high-density areas, monitoring cluster trends for shifts or growth, and leveraging this analysis for public health planning and harm reduction efforts.</a:t>
            </a:r>
            <a:endParaRPr sz="1310" dirty="0">
              <a:solidFill>
                <a:schemeClr val="dk1"/>
              </a:solidFill>
            </a:endParaRPr>
          </a:p>
          <a:p>
            <a:pPr marL="457200" marR="0" lvl="0" indent="0" algn="just" rtl="0">
              <a:lnSpc>
                <a:spcPct val="115000"/>
              </a:lnSpc>
              <a:spcBef>
                <a:spcPts val="1200"/>
              </a:spcBef>
              <a:spcAft>
                <a:spcPts val="1200"/>
              </a:spcAft>
              <a:buSzPts val="935"/>
              <a:buNone/>
            </a:pPr>
            <a:endParaRPr sz="1026" dirty="0">
              <a:solidFill>
                <a:schemeClr val="dk1"/>
              </a:solidFill>
            </a:endParaRPr>
          </a:p>
        </p:txBody>
      </p:sp>
      <p:pic>
        <p:nvPicPr>
          <p:cNvPr id="251" name="Google Shape;251;p25"/>
          <p:cNvPicPr preferRelativeResize="0"/>
          <p:nvPr/>
        </p:nvPicPr>
        <p:blipFill>
          <a:blip r:embed="rId3">
            <a:alphaModFix/>
          </a:blip>
          <a:stretch>
            <a:fillRect/>
          </a:stretch>
        </p:blipFill>
        <p:spPr>
          <a:xfrm>
            <a:off x="4462751" y="1272175"/>
            <a:ext cx="4500552" cy="3176999"/>
          </a:xfrm>
          <a:prstGeom prst="rect">
            <a:avLst/>
          </a:prstGeom>
          <a:noFill/>
          <a:ln>
            <a:noFill/>
          </a:ln>
        </p:spPr>
      </p:pic>
      <p:pic>
        <p:nvPicPr>
          <p:cNvPr id="252" name="Google Shape;252;p25"/>
          <p:cNvPicPr preferRelativeResize="0"/>
          <p:nvPr/>
        </p:nvPicPr>
        <p:blipFill>
          <a:blip r:embed="rId4">
            <a:alphaModFix/>
          </a:blip>
          <a:stretch>
            <a:fillRect/>
          </a:stretch>
        </p:blipFill>
        <p:spPr>
          <a:xfrm>
            <a:off x="7213100" y="168200"/>
            <a:ext cx="824250" cy="824250"/>
          </a:xfrm>
          <a:prstGeom prst="rect">
            <a:avLst/>
          </a:prstGeom>
          <a:noFill/>
          <a:ln>
            <a:noFill/>
          </a:ln>
        </p:spPr>
      </p:pic>
      <p:pic>
        <p:nvPicPr>
          <p:cNvPr id="253" name="Google Shape;253;p25" title="Weixin Screenshot_20250318182228.png"/>
          <p:cNvPicPr preferRelativeResize="0"/>
          <p:nvPr/>
        </p:nvPicPr>
        <p:blipFill>
          <a:blip r:embed="rId5">
            <a:alphaModFix/>
          </a:blip>
          <a:stretch>
            <a:fillRect/>
          </a:stretch>
        </p:blipFill>
        <p:spPr>
          <a:xfrm>
            <a:off x="8160025" y="142925"/>
            <a:ext cx="874800" cy="874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SARIMA Time-Series Forecasting</a:t>
            </a:r>
            <a:endParaRPr/>
          </a:p>
        </p:txBody>
      </p:sp>
      <p:sp>
        <p:nvSpPr>
          <p:cNvPr id="259" name="Google Shape;259;p26"/>
          <p:cNvSpPr txBox="1">
            <a:spLocks noGrp="1"/>
          </p:cNvSpPr>
          <p:nvPr>
            <p:ph type="body" idx="1"/>
          </p:nvPr>
        </p:nvSpPr>
        <p:spPr>
          <a:xfrm>
            <a:off x="41563" y="856911"/>
            <a:ext cx="4324200" cy="3990900"/>
          </a:xfrm>
          <a:prstGeom prst="rect">
            <a:avLst/>
          </a:prstGeom>
        </p:spPr>
        <p:txBody>
          <a:bodyPr spcFirstLastPara="1" wrap="square" lIns="91425" tIns="91425" rIns="91425" bIns="91425" anchor="t" anchorCtr="0">
            <a:normAutofit fontScale="92500"/>
          </a:bodyPr>
          <a:lstStyle/>
          <a:p>
            <a:pPr marL="457200" marR="0" lvl="0" indent="-312821" algn="just" rtl="0">
              <a:lnSpc>
                <a:spcPct val="115000"/>
              </a:lnSpc>
              <a:spcBef>
                <a:spcPts val="1200"/>
              </a:spcBef>
              <a:spcAft>
                <a:spcPts val="0"/>
              </a:spcAft>
              <a:buClr>
                <a:schemeClr val="dk1"/>
              </a:buClr>
              <a:buSzPct val="100000"/>
              <a:buChar char="●"/>
            </a:pPr>
            <a:r>
              <a:rPr lang="en" sz="1433" dirty="0">
                <a:solidFill>
                  <a:schemeClr val="dk1"/>
                </a:solidFill>
              </a:rPr>
              <a:t>The blue line shows actual monthly syringe requests, while the red dashed line forecasts future requests using SARIMA modeling.</a:t>
            </a:r>
            <a:endParaRPr sz="1433" dirty="0">
              <a:solidFill>
                <a:schemeClr val="dk1"/>
              </a:solidFill>
            </a:endParaRPr>
          </a:p>
          <a:p>
            <a:pPr marL="457200" marR="0" lvl="0" indent="-312821" algn="just" rtl="0">
              <a:lnSpc>
                <a:spcPct val="115000"/>
              </a:lnSpc>
              <a:spcBef>
                <a:spcPts val="0"/>
              </a:spcBef>
              <a:spcAft>
                <a:spcPts val="0"/>
              </a:spcAft>
              <a:buClr>
                <a:schemeClr val="dk1"/>
              </a:buClr>
              <a:buSzPct val="100000"/>
              <a:buChar char="●"/>
            </a:pPr>
            <a:r>
              <a:rPr lang="en" sz="1433" dirty="0">
                <a:solidFill>
                  <a:schemeClr val="dk1"/>
                </a:solidFill>
              </a:rPr>
              <a:t>Historical data reveals seasonal trends in syringe requests, with forecasts predicting increased disposal needs and sharp growth in demand for future months.</a:t>
            </a:r>
            <a:endParaRPr sz="1433" dirty="0">
              <a:solidFill>
                <a:schemeClr val="dk1"/>
              </a:solidFill>
            </a:endParaRPr>
          </a:p>
          <a:p>
            <a:pPr marL="457200" marR="0" lvl="0" indent="-312821" algn="just" rtl="0">
              <a:lnSpc>
                <a:spcPct val="115000"/>
              </a:lnSpc>
              <a:spcBef>
                <a:spcPts val="0"/>
              </a:spcBef>
              <a:spcAft>
                <a:spcPts val="0"/>
              </a:spcAft>
              <a:buClr>
                <a:schemeClr val="dk1"/>
              </a:buClr>
              <a:buSzPct val="100000"/>
              <a:buChar char="●"/>
            </a:pPr>
            <a:r>
              <a:rPr lang="en" sz="1433" dirty="0">
                <a:solidFill>
                  <a:schemeClr val="dk1"/>
                </a:solidFill>
              </a:rPr>
              <a:t>This analysis enables proactive planning, optimal resource allocation, and policy impact assessment, helping city officials prepare for and respond to changing syringe disposal needs.</a:t>
            </a:r>
            <a:endParaRPr sz="1433" dirty="0">
              <a:solidFill>
                <a:schemeClr val="dk1"/>
              </a:solidFill>
            </a:endParaRPr>
          </a:p>
          <a:p>
            <a:pPr marL="457200" marR="0" lvl="0" indent="-312821" algn="just" rtl="0">
              <a:lnSpc>
                <a:spcPct val="115000"/>
              </a:lnSpc>
              <a:spcBef>
                <a:spcPts val="0"/>
              </a:spcBef>
              <a:spcAft>
                <a:spcPts val="0"/>
              </a:spcAft>
              <a:buClr>
                <a:schemeClr val="dk1"/>
              </a:buClr>
              <a:buSzPct val="100000"/>
              <a:buChar char="●"/>
            </a:pPr>
            <a:r>
              <a:rPr lang="en" sz="1433" dirty="0">
                <a:solidFill>
                  <a:schemeClr val="dk1"/>
                </a:solidFill>
              </a:rPr>
              <a:t>Next steps include scaling up disposal services to meet rising demand, monitoring the impact of policy changes on trends, and using forecasts to shape long-term harm reduction strategies.</a:t>
            </a:r>
            <a:endParaRPr sz="1000" dirty="0"/>
          </a:p>
          <a:p>
            <a:pPr marL="457200" lvl="0" indent="0" algn="just" rtl="0">
              <a:spcBef>
                <a:spcPts val="1200"/>
              </a:spcBef>
              <a:spcAft>
                <a:spcPts val="0"/>
              </a:spcAft>
              <a:buNone/>
            </a:pPr>
            <a:endParaRPr sz="1000" dirty="0"/>
          </a:p>
        </p:txBody>
      </p:sp>
      <p:pic>
        <p:nvPicPr>
          <p:cNvPr id="260" name="Google Shape;260;p26"/>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261" name="Google Shape;261;p26"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pic>
        <p:nvPicPr>
          <p:cNvPr id="262" name="Google Shape;262;p26"/>
          <p:cNvPicPr preferRelativeResize="0"/>
          <p:nvPr/>
        </p:nvPicPr>
        <p:blipFill>
          <a:blip r:embed="rId5">
            <a:alphaModFix/>
          </a:blip>
          <a:stretch>
            <a:fillRect/>
          </a:stretch>
        </p:blipFill>
        <p:spPr>
          <a:xfrm>
            <a:off x="4324200" y="1273150"/>
            <a:ext cx="4710625" cy="2357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7"/>
          <p:cNvSpPr txBox="1">
            <a:spLocks noGrp="1"/>
          </p:cNvSpPr>
          <p:nvPr>
            <p:ph type="title"/>
          </p:nvPr>
        </p:nvSpPr>
        <p:spPr>
          <a:xfrm>
            <a:off x="193250" y="142925"/>
            <a:ext cx="8520600" cy="56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120" b="1"/>
              <a:t>List of Policies for Suggestions &amp; Project Outcomes</a:t>
            </a:r>
            <a:endParaRPr sz="2120" b="1"/>
          </a:p>
        </p:txBody>
      </p:sp>
      <p:sp>
        <p:nvSpPr>
          <p:cNvPr id="268" name="Google Shape;268;p27"/>
          <p:cNvSpPr txBox="1">
            <a:spLocks noGrp="1"/>
          </p:cNvSpPr>
          <p:nvPr>
            <p:ph type="body" idx="1"/>
          </p:nvPr>
        </p:nvSpPr>
        <p:spPr>
          <a:xfrm>
            <a:off x="138225" y="536761"/>
            <a:ext cx="8845500" cy="43932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Clr>
                <a:schemeClr val="dk1"/>
              </a:buClr>
              <a:buSzPts val="1100"/>
              <a:buFont typeface="Arial"/>
              <a:buNone/>
            </a:pPr>
            <a:r>
              <a:rPr lang="en" sz="1700" b="1" u="sng" dirty="0">
                <a:solidFill>
                  <a:schemeClr val="dk1"/>
                </a:solidFill>
              </a:rPr>
              <a:t>Suggested Policy Improvements (With Time &amp; Cost Considerations):</a:t>
            </a:r>
            <a:endParaRPr sz="1700" b="1" u="sng" dirty="0">
              <a:solidFill>
                <a:schemeClr val="dk1"/>
              </a:solidFill>
            </a:endParaRPr>
          </a:p>
          <a:p>
            <a:pPr marL="457200" lvl="0" indent="-323850" algn="l" rtl="0">
              <a:spcBef>
                <a:spcPts val="1200"/>
              </a:spcBef>
              <a:spcAft>
                <a:spcPts val="0"/>
              </a:spcAft>
              <a:buClr>
                <a:schemeClr val="dk1"/>
              </a:buClr>
              <a:buSzPts val="1500"/>
              <a:buAutoNum type="arabicPeriod"/>
            </a:pPr>
            <a:r>
              <a:rPr lang="en" sz="1500" b="1" dirty="0">
                <a:solidFill>
                  <a:schemeClr val="dk1"/>
                </a:solidFill>
              </a:rPr>
              <a:t>Strategic Placement of Disposal Bins</a:t>
            </a:r>
            <a:r>
              <a:rPr lang="en" sz="1500" dirty="0">
                <a:solidFill>
                  <a:schemeClr val="dk1"/>
                </a:solidFill>
              </a:rPr>
              <a:t> – Install more syringe disposal stations in high-risk areas to reduce public health risks. (</a:t>
            </a:r>
            <a:r>
              <a:rPr lang="en" sz="1500" b="1" dirty="0">
                <a:solidFill>
                  <a:schemeClr val="dk1"/>
                </a:solidFill>
              </a:rPr>
              <a:t>Time-Saving, Economical</a:t>
            </a:r>
            <a:r>
              <a:rPr lang="en" sz="1500" dirty="0">
                <a:solidFill>
                  <a:schemeClr val="dk1"/>
                </a:solidFill>
              </a:rPr>
              <a:t>)</a:t>
            </a:r>
            <a:endParaRPr sz="1500" dirty="0">
              <a:solidFill>
                <a:schemeClr val="dk1"/>
              </a:solidFill>
            </a:endParaRPr>
          </a:p>
          <a:p>
            <a:pPr marL="457200" lvl="0" indent="-323850" algn="l" rtl="0">
              <a:spcBef>
                <a:spcPts val="0"/>
              </a:spcBef>
              <a:spcAft>
                <a:spcPts val="0"/>
              </a:spcAft>
              <a:buClr>
                <a:schemeClr val="dk1"/>
              </a:buClr>
              <a:buSzPts val="1500"/>
              <a:buAutoNum type="arabicPeriod"/>
            </a:pPr>
            <a:r>
              <a:rPr lang="en" sz="1500" b="1" dirty="0">
                <a:solidFill>
                  <a:schemeClr val="dk1"/>
                </a:solidFill>
              </a:rPr>
              <a:t>Real-time Monitoring &amp; Alerts</a:t>
            </a:r>
            <a:r>
              <a:rPr lang="en" sz="1500" dirty="0">
                <a:solidFill>
                  <a:schemeClr val="dk1"/>
                </a:solidFill>
              </a:rPr>
              <a:t> – Implement an automated system that flags increasing syringe disposal trends for quicker response. (</a:t>
            </a:r>
            <a:r>
              <a:rPr lang="en" sz="1500" b="1" dirty="0">
                <a:solidFill>
                  <a:schemeClr val="dk1"/>
                </a:solidFill>
              </a:rPr>
              <a:t>Time-Saving, High-Cost</a:t>
            </a:r>
            <a:r>
              <a:rPr lang="en" sz="1500" dirty="0">
                <a:solidFill>
                  <a:schemeClr val="dk1"/>
                </a:solidFill>
              </a:rPr>
              <a:t>)</a:t>
            </a:r>
            <a:endParaRPr sz="1500" dirty="0">
              <a:solidFill>
                <a:schemeClr val="dk1"/>
              </a:solidFill>
            </a:endParaRPr>
          </a:p>
          <a:p>
            <a:pPr marL="457200" lvl="0" indent="-323850" algn="l" rtl="0">
              <a:spcBef>
                <a:spcPts val="0"/>
              </a:spcBef>
              <a:spcAft>
                <a:spcPts val="0"/>
              </a:spcAft>
              <a:buClr>
                <a:schemeClr val="dk1"/>
              </a:buClr>
              <a:buSzPts val="1500"/>
              <a:buAutoNum type="arabicPeriod"/>
            </a:pPr>
            <a:r>
              <a:rPr lang="en" sz="1500" b="1" dirty="0">
                <a:solidFill>
                  <a:schemeClr val="dk1"/>
                </a:solidFill>
              </a:rPr>
              <a:t>Public Awareness Campaigns</a:t>
            </a:r>
            <a:r>
              <a:rPr lang="en" sz="1500" dirty="0">
                <a:solidFill>
                  <a:schemeClr val="dk1"/>
                </a:solidFill>
              </a:rPr>
              <a:t> – Launch city-wide educational programs on safe syringe disposal and harm reduction practices. (</a:t>
            </a:r>
            <a:r>
              <a:rPr lang="en" sz="1500" b="1" dirty="0">
                <a:solidFill>
                  <a:schemeClr val="dk1"/>
                </a:solidFill>
              </a:rPr>
              <a:t>Time-Consuming, Economical</a:t>
            </a:r>
            <a:r>
              <a:rPr lang="en" sz="1500" dirty="0">
                <a:solidFill>
                  <a:schemeClr val="dk1"/>
                </a:solidFill>
              </a:rPr>
              <a:t>)</a:t>
            </a:r>
            <a:endParaRPr sz="1500" dirty="0">
              <a:solidFill>
                <a:schemeClr val="dk1"/>
              </a:solidFill>
            </a:endParaRPr>
          </a:p>
          <a:p>
            <a:pPr marL="457200" lvl="0" indent="-323850" algn="l" rtl="0">
              <a:spcBef>
                <a:spcPts val="0"/>
              </a:spcBef>
              <a:spcAft>
                <a:spcPts val="0"/>
              </a:spcAft>
              <a:buClr>
                <a:schemeClr val="dk1"/>
              </a:buClr>
              <a:buSzPts val="1500"/>
              <a:buAutoNum type="arabicPeriod"/>
            </a:pPr>
            <a:r>
              <a:rPr lang="en" sz="1500" b="1" dirty="0">
                <a:solidFill>
                  <a:schemeClr val="dk1"/>
                </a:solidFill>
              </a:rPr>
              <a:t>Collaboration with Health Agencies</a:t>
            </a:r>
            <a:r>
              <a:rPr lang="en" sz="1500" dirty="0">
                <a:solidFill>
                  <a:schemeClr val="dk1"/>
                </a:solidFill>
              </a:rPr>
              <a:t> – Strengthen partnerships with local health organizations to enhance intervention and outreach efforts. (</a:t>
            </a:r>
            <a:r>
              <a:rPr lang="en" sz="1500" b="1" dirty="0">
                <a:solidFill>
                  <a:schemeClr val="dk1"/>
                </a:solidFill>
              </a:rPr>
              <a:t>Time-Saving, Economical</a:t>
            </a:r>
            <a:r>
              <a:rPr lang="en" sz="1500" dirty="0">
                <a:solidFill>
                  <a:schemeClr val="dk1"/>
                </a:solidFill>
              </a:rPr>
              <a:t>)</a:t>
            </a:r>
            <a:endParaRPr sz="1500" dirty="0">
              <a:solidFill>
                <a:schemeClr val="dk1"/>
              </a:solidFill>
            </a:endParaRPr>
          </a:p>
          <a:p>
            <a:pPr marL="457200" lvl="0" indent="-323850" algn="l" rtl="0">
              <a:spcBef>
                <a:spcPts val="0"/>
              </a:spcBef>
              <a:spcAft>
                <a:spcPts val="0"/>
              </a:spcAft>
              <a:buClr>
                <a:schemeClr val="dk1"/>
              </a:buClr>
              <a:buSzPts val="1500"/>
              <a:buAutoNum type="arabicPeriod"/>
            </a:pPr>
            <a:r>
              <a:rPr lang="en" sz="1500" b="1" dirty="0">
                <a:solidFill>
                  <a:schemeClr val="dk1"/>
                </a:solidFill>
              </a:rPr>
              <a:t>Community-Based Harm Reduction Services</a:t>
            </a:r>
            <a:r>
              <a:rPr lang="en" sz="1500" dirty="0">
                <a:solidFill>
                  <a:schemeClr val="dk1"/>
                </a:solidFill>
              </a:rPr>
              <a:t> – Establish mobile health units providing on-site support, including clean syringe exchange programs and medical assistance. (</a:t>
            </a:r>
            <a:r>
              <a:rPr lang="en" sz="1500" b="1" dirty="0">
                <a:solidFill>
                  <a:schemeClr val="dk1"/>
                </a:solidFill>
              </a:rPr>
              <a:t>Time-Consuming, High-Cost</a:t>
            </a:r>
            <a:r>
              <a:rPr lang="en" sz="1500" dirty="0">
                <a:solidFill>
                  <a:schemeClr val="dk1"/>
                </a:solidFill>
              </a:rPr>
              <a:t>)</a:t>
            </a:r>
            <a:endParaRPr sz="1500" dirty="0">
              <a:solidFill>
                <a:schemeClr val="dk1"/>
              </a:solidFill>
            </a:endParaRPr>
          </a:p>
          <a:p>
            <a:pPr marL="0" lvl="0" indent="0" algn="l" rtl="0">
              <a:spcBef>
                <a:spcPts val="1200"/>
              </a:spcBef>
              <a:spcAft>
                <a:spcPts val="1200"/>
              </a:spcAft>
              <a:buNone/>
            </a:pPr>
            <a:r>
              <a:rPr lang="en" sz="1500" dirty="0">
                <a:solidFill>
                  <a:schemeClr val="dk1"/>
                </a:solidFill>
              </a:rPr>
              <a:t>This classification helps in understanding the feasibility of each policy in terms of </a:t>
            </a:r>
            <a:r>
              <a:rPr lang="en" sz="1500" b="1" dirty="0">
                <a:solidFill>
                  <a:schemeClr val="dk1"/>
                </a:solidFill>
              </a:rPr>
              <a:t>implementation speed and budget requirements</a:t>
            </a:r>
            <a:r>
              <a:rPr lang="en" sz="1500" dirty="0">
                <a:solidFill>
                  <a:schemeClr val="dk1"/>
                </a:solidFill>
              </a:rPr>
              <a:t>.</a:t>
            </a:r>
            <a:endParaRPr dirty="0"/>
          </a:p>
        </p:txBody>
      </p:sp>
      <p:pic>
        <p:nvPicPr>
          <p:cNvPr id="269" name="Google Shape;269;p27"/>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270" name="Google Shape;270;p27"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8"/>
          <p:cNvSpPr txBox="1">
            <a:spLocks noGrp="1"/>
          </p:cNvSpPr>
          <p:nvPr>
            <p:ph type="title"/>
          </p:nvPr>
        </p:nvSpPr>
        <p:spPr>
          <a:xfrm>
            <a:off x="183375" y="450875"/>
            <a:ext cx="8520600" cy="56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120" b="1"/>
              <a:t>List of Policies for Suggestions &amp; Project Outcomes</a:t>
            </a:r>
            <a:endParaRPr sz="2120" b="1"/>
          </a:p>
        </p:txBody>
      </p:sp>
      <p:sp>
        <p:nvSpPr>
          <p:cNvPr id="276" name="Google Shape;276;p28"/>
          <p:cNvSpPr txBox="1">
            <a:spLocks noGrp="1"/>
          </p:cNvSpPr>
          <p:nvPr>
            <p:ph type="body" idx="1"/>
          </p:nvPr>
        </p:nvSpPr>
        <p:spPr>
          <a:xfrm>
            <a:off x="138225" y="908357"/>
            <a:ext cx="8845500" cy="4192500"/>
          </a:xfrm>
          <a:prstGeom prst="rect">
            <a:avLst/>
          </a:prstGeom>
          <a:solidFill>
            <a:schemeClr val="lt1"/>
          </a:solidFill>
        </p:spPr>
        <p:txBody>
          <a:bodyPr spcFirstLastPara="1" wrap="square" lIns="91425" tIns="91425" rIns="91425" bIns="91425" anchor="t" anchorCtr="0">
            <a:noAutofit/>
          </a:bodyPr>
          <a:lstStyle/>
          <a:p>
            <a:pPr marL="0" lvl="0" indent="0" algn="l" rtl="0">
              <a:spcBef>
                <a:spcPts val="1200"/>
              </a:spcBef>
              <a:spcAft>
                <a:spcPts val="0"/>
              </a:spcAft>
              <a:buNone/>
            </a:pPr>
            <a:r>
              <a:rPr lang="en" sz="1500" b="1" u="sng">
                <a:solidFill>
                  <a:schemeClr val="dk1"/>
                </a:solidFill>
              </a:rPr>
              <a:t>Project Outcomes:</a:t>
            </a:r>
            <a:endParaRPr sz="1500" b="1" u="sng">
              <a:solidFill>
                <a:schemeClr val="dk1"/>
              </a:solidFill>
            </a:endParaRPr>
          </a:p>
          <a:p>
            <a:pPr marL="457200" lvl="0" indent="-323850" algn="l" rtl="0">
              <a:spcBef>
                <a:spcPts val="1200"/>
              </a:spcBef>
              <a:spcAft>
                <a:spcPts val="0"/>
              </a:spcAft>
              <a:buClr>
                <a:schemeClr val="dk1"/>
              </a:buClr>
              <a:buSzPts val="1500"/>
              <a:buAutoNum type="arabicPeriod"/>
            </a:pPr>
            <a:r>
              <a:rPr lang="en" sz="1500" b="1">
                <a:solidFill>
                  <a:schemeClr val="dk1"/>
                </a:solidFill>
              </a:rPr>
              <a:t>High-Risk Area Identification</a:t>
            </a:r>
            <a:r>
              <a:rPr lang="en" sz="1500">
                <a:solidFill>
                  <a:schemeClr val="dk1"/>
                </a:solidFill>
              </a:rPr>
              <a:t> – Our models pinpoint locations with the most urgent need for intervention.</a:t>
            </a:r>
            <a:endParaRPr sz="1500">
              <a:solidFill>
                <a:schemeClr val="dk1"/>
              </a:solidFill>
            </a:endParaRPr>
          </a:p>
          <a:p>
            <a:pPr marL="457200" lvl="0" indent="-323850" algn="l" rtl="0">
              <a:spcBef>
                <a:spcPts val="0"/>
              </a:spcBef>
              <a:spcAft>
                <a:spcPts val="0"/>
              </a:spcAft>
              <a:buClr>
                <a:schemeClr val="dk1"/>
              </a:buClr>
              <a:buSzPts val="1500"/>
              <a:buAutoNum type="arabicPeriod"/>
            </a:pPr>
            <a:r>
              <a:rPr lang="en" sz="1500" b="1">
                <a:solidFill>
                  <a:schemeClr val="dk1"/>
                </a:solidFill>
              </a:rPr>
              <a:t>Predictive Analytics for Policy Making</a:t>
            </a:r>
            <a:r>
              <a:rPr lang="en" sz="1500">
                <a:solidFill>
                  <a:schemeClr val="dk1"/>
                </a:solidFill>
              </a:rPr>
              <a:t> – SARIMA forecasting helps city officials plan ahead for rising syringe disposal demands.</a:t>
            </a:r>
            <a:endParaRPr sz="1500">
              <a:solidFill>
                <a:schemeClr val="dk1"/>
              </a:solidFill>
            </a:endParaRPr>
          </a:p>
          <a:p>
            <a:pPr marL="457200" lvl="0" indent="-323850" algn="l" rtl="0">
              <a:spcBef>
                <a:spcPts val="0"/>
              </a:spcBef>
              <a:spcAft>
                <a:spcPts val="0"/>
              </a:spcAft>
              <a:buClr>
                <a:schemeClr val="dk1"/>
              </a:buClr>
              <a:buSzPts val="1500"/>
              <a:buAutoNum type="arabicPeriod"/>
            </a:pPr>
            <a:r>
              <a:rPr lang="en" sz="1500" b="1">
                <a:solidFill>
                  <a:schemeClr val="dk1"/>
                </a:solidFill>
              </a:rPr>
              <a:t>Data-Driven Decision Making</a:t>
            </a:r>
            <a:r>
              <a:rPr lang="en" sz="1500">
                <a:solidFill>
                  <a:schemeClr val="dk1"/>
                </a:solidFill>
              </a:rPr>
              <a:t> – Our dashboard provides real-time insights to inform proactive public health strategies.</a:t>
            </a:r>
            <a:endParaRPr sz="1500">
              <a:solidFill>
                <a:schemeClr val="dk1"/>
              </a:solidFill>
            </a:endParaRPr>
          </a:p>
          <a:p>
            <a:pPr marL="457200" lvl="0" indent="-323850" algn="l" rtl="0">
              <a:spcBef>
                <a:spcPts val="0"/>
              </a:spcBef>
              <a:spcAft>
                <a:spcPts val="0"/>
              </a:spcAft>
              <a:buClr>
                <a:schemeClr val="dk1"/>
              </a:buClr>
              <a:buSzPts val="1500"/>
              <a:buAutoNum type="arabicPeriod"/>
            </a:pPr>
            <a:r>
              <a:rPr lang="en" sz="1500" b="1">
                <a:solidFill>
                  <a:schemeClr val="dk1"/>
                </a:solidFill>
              </a:rPr>
              <a:t>Long-Term Public Health Impact</a:t>
            </a:r>
            <a:r>
              <a:rPr lang="en" sz="1500">
                <a:solidFill>
                  <a:schemeClr val="dk1"/>
                </a:solidFill>
              </a:rPr>
              <a:t> – By integrating harm reduction efforts with rehabilitation services, we address both immediate concerns and long-term solutions.</a:t>
            </a:r>
            <a:endParaRPr sz="1500">
              <a:solidFill>
                <a:schemeClr val="dk1"/>
              </a:solidFill>
            </a:endParaRPr>
          </a:p>
          <a:p>
            <a:pPr marL="0" lvl="0" indent="0" algn="l" rtl="0">
              <a:spcBef>
                <a:spcPts val="1200"/>
              </a:spcBef>
              <a:spcAft>
                <a:spcPts val="1200"/>
              </a:spcAft>
              <a:buNone/>
            </a:pPr>
            <a:r>
              <a:rPr lang="en" sz="1500">
                <a:solidFill>
                  <a:schemeClr val="dk1"/>
                </a:solidFill>
              </a:rPr>
              <a:t>These policies ensure a </a:t>
            </a:r>
            <a:r>
              <a:rPr lang="en" sz="1500" b="1">
                <a:solidFill>
                  <a:schemeClr val="dk1"/>
                </a:solidFill>
              </a:rPr>
              <a:t>comprehensive</a:t>
            </a:r>
            <a:r>
              <a:rPr lang="en" sz="1500">
                <a:solidFill>
                  <a:schemeClr val="dk1"/>
                </a:solidFill>
              </a:rPr>
              <a:t> approach—focusing not only on </a:t>
            </a:r>
            <a:r>
              <a:rPr lang="en" sz="1500" b="1">
                <a:solidFill>
                  <a:schemeClr val="dk1"/>
                </a:solidFill>
              </a:rPr>
              <a:t>safe disposal</a:t>
            </a:r>
            <a:r>
              <a:rPr lang="en" sz="1500">
                <a:solidFill>
                  <a:schemeClr val="dk1"/>
                </a:solidFill>
              </a:rPr>
              <a:t> but also on </a:t>
            </a:r>
            <a:r>
              <a:rPr lang="en" sz="1500" b="1">
                <a:solidFill>
                  <a:schemeClr val="dk1"/>
                </a:solidFill>
              </a:rPr>
              <a:t>preventing substance abuse and supporting recovery efforts</a:t>
            </a:r>
            <a:r>
              <a:rPr lang="en" sz="1500">
                <a:solidFill>
                  <a:schemeClr val="dk1"/>
                </a:solidFill>
              </a:rPr>
              <a:t>.</a:t>
            </a:r>
            <a:endParaRPr b="1">
              <a:solidFill>
                <a:schemeClr val="dk1"/>
              </a:solidFill>
            </a:endParaRPr>
          </a:p>
        </p:txBody>
      </p:sp>
      <p:pic>
        <p:nvPicPr>
          <p:cNvPr id="277" name="Google Shape;277;p28"/>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278" name="Google Shape;278;p28"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9"/>
          <p:cNvSpPr txBox="1">
            <a:spLocks noGrp="1"/>
          </p:cNvSpPr>
          <p:nvPr>
            <p:ph type="title"/>
          </p:nvPr>
        </p:nvSpPr>
        <p:spPr>
          <a:xfrm>
            <a:off x="311700" y="35266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Conclusion</a:t>
            </a:r>
            <a:endParaRPr dirty="0"/>
          </a:p>
        </p:txBody>
      </p:sp>
      <p:sp>
        <p:nvSpPr>
          <p:cNvPr id="284" name="Google Shape;284;p29"/>
          <p:cNvSpPr txBox="1">
            <a:spLocks noGrp="1"/>
          </p:cNvSpPr>
          <p:nvPr>
            <p:ph type="body" idx="1"/>
          </p:nvPr>
        </p:nvSpPr>
        <p:spPr>
          <a:xfrm>
            <a:off x="311700" y="763721"/>
            <a:ext cx="8520600" cy="3416400"/>
          </a:xfrm>
          <a:prstGeom prst="rect">
            <a:avLst/>
          </a:prstGeom>
        </p:spPr>
        <p:txBody>
          <a:bodyPr spcFirstLastPara="1" wrap="square" lIns="91425" tIns="91425" rIns="91425" bIns="91425" anchor="t" anchorCtr="0">
            <a:noAutofit/>
          </a:bodyPr>
          <a:lstStyle/>
          <a:p>
            <a:pPr marL="0" lvl="0" indent="0" algn="just" rtl="0">
              <a:spcBef>
                <a:spcPts val="1200"/>
              </a:spcBef>
              <a:spcAft>
                <a:spcPts val="0"/>
              </a:spcAft>
              <a:buClr>
                <a:schemeClr val="dk1"/>
              </a:buClr>
              <a:buSzPts val="1100"/>
              <a:buFont typeface="Arial"/>
              <a:buNone/>
            </a:pPr>
            <a:r>
              <a:rPr lang="en" sz="1500" dirty="0">
                <a:solidFill>
                  <a:schemeClr val="dk1"/>
                </a:solidFill>
              </a:rPr>
              <a:t>This project demonstrates how data-driven insights can enhance public health strategies. By analyzing syringe request data, we have identified patterns and trends that help allocate resources efficiently.</a:t>
            </a:r>
            <a:endParaRPr sz="1500" dirty="0">
              <a:solidFill>
                <a:schemeClr val="dk1"/>
              </a:solidFill>
            </a:endParaRPr>
          </a:p>
          <a:p>
            <a:pPr marL="0" lvl="0" indent="0" algn="just" rtl="0">
              <a:spcBef>
                <a:spcPts val="1200"/>
              </a:spcBef>
              <a:spcAft>
                <a:spcPts val="0"/>
              </a:spcAft>
              <a:buClr>
                <a:schemeClr val="dk1"/>
              </a:buClr>
              <a:buSzPts val="1100"/>
              <a:buFont typeface="Arial"/>
              <a:buNone/>
            </a:pPr>
            <a:r>
              <a:rPr lang="en" sz="1500" b="1" dirty="0">
                <a:solidFill>
                  <a:schemeClr val="dk1"/>
                </a:solidFill>
              </a:rPr>
              <a:t>Key Takeaways:</a:t>
            </a:r>
            <a:endParaRPr sz="1500" b="1" dirty="0">
              <a:solidFill>
                <a:schemeClr val="dk1"/>
              </a:solidFill>
            </a:endParaRPr>
          </a:p>
          <a:p>
            <a:pPr marL="457200" lvl="0" indent="-323850" algn="just" rtl="0">
              <a:spcBef>
                <a:spcPts val="1200"/>
              </a:spcBef>
              <a:spcAft>
                <a:spcPts val="0"/>
              </a:spcAft>
              <a:buClr>
                <a:schemeClr val="dk1"/>
              </a:buClr>
              <a:buSzPts val="1500"/>
              <a:buChar char="●"/>
            </a:pPr>
            <a:r>
              <a:rPr lang="en" sz="1500" b="1" dirty="0">
                <a:solidFill>
                  <a:schemeClr val="dk1"/>
                </a:solidFill>
              </a:rPr>
              <a:t>Seasonal Trends:</a:t>
            </a:r>
            <a:r>
              <a:rPr lang="en" sz="1500" dirty="0">
                <a:solidFill>
                  <a:schemeClr val="dk1"/>
                </a:solidFill>
              </a:rPr>
              <a:t> Syringe requests increase at specific times of the year.</a:t>
            </a:r>
            <a:endParaRPr sz="1500" dirty="0">
              <a:solidFill>
                <a:schemeClr val="dk1"/>
              </a:solidFill>
            </a:endParaRPr>
          </a:p>
          <a:p>
            <a:pPr marL="457200" lvl="0" indent="-323850" algn="just" rtl="0">
              <a:spcBef>
                <a:spcPts val="0"/>
              </a:spcBef>
              <a:spcAft>
                <a:spcPts val="0"/>
              </a:spcAft>
              <a:buClr>
                <a:schemeClr val="dk1"/>
              </a:buClr>
              <a:buSzPts val="1500"/>
              <a:buChar char="●"/>
            </a:pPr>
            <a:r>
              <a:rPr lang="en" sz="1500" b="1" dirty="0">
                <a:solidFill>
                  <a:schemeClr val="dk1"/>
                </a:solidFill>
              </a:rPr>
              <a:t>High-Risk Areas:</a:t>
            </a:r>
            <a:r>
              <a:rPr lang="en" sz="1500" dirty="0">
                <a:solidFill>
                  <a:schemeClr val="dk1"/>
                </a:solidFill>
              </a:rPr>
              <a:t> Considering data from 2021 up to now, District 3 (Dorchester) &amp; 7 (Roxbury) reports the highest number of requests (~33%).</a:t>
            </a:r>
            <a:endParaRPr sz="1500" dirty="0">
              <a:solidFill>
                <a:schemeClr val="dk1"/>
              </a:solidFill>
            </a:endParaRPr>
          </a:p>
          <a:p>
            <a:pPr marL="457200" lvl="0" indent="-323850" algn="just" rtl="0">
              <a:spcBef>
                <a:spcPts val="0"/>
              </a:spcBef>
              <a:spcAft>
                <a:spcPts val="0"/>
              </a:spcAft>
              <a:buClr>
                <a:schemeClr val="dk1"/>
              </a:buClr>
              <a:buSzPts val="1500"/>
              <a:buChar char="●"/>
            </a:pPr>
            <a:r>
              <a:rPr lang="en" sz="1500" b="1" dirty="0">
                <a:solidFill>
                  <a:schemeClr val="dk1"/>
                </a:solidFill>
              </a:rPr>
              <a:t>Predictive Modeling:</a:t>
            </a:r>
            <a:r>
              <a:rPr lang="en" sz="1500" dirty="0">
                <a:solidFill>
                  <a:schemeClr val="dk1"/>
                </a:solidFill>
              </a:rPr>
              <a:t> Our SARIMA model forecasts rising demand, allowing proactive responses.</a:t>
            </a:r>
            <a:endParaRPr sz="1500" dirty="0">
              <a:solidFill>
                <a:schemeClr val="dk1"/>
              </a:solidFill>
            </a:endParaRPr>
          </a:p>
          <a:p>
            <a:pPr marL="0" lvl="0" indent="0" algn="just" rtl="0">
              <a:spcBef>
                <a:spcPts val="1200"/>
              </a:spcBef>
              <a:spcAft>
                <a:spcPts val="1200"/>
              </a:spcAft>
              <a:buNone/>
            </a:pPr>
            <a:r>
              <a:rPr lang="en" sz="1500" b="1" dirty="0">
                <a:solidFill>
                  <a:schemeClr val="dk1"/>
                </a:solidFill>
              </a:rPr>
              <a:t>Final Thoughts:</a:t>
            </a:r>
            <a:br>
              <a:rPr lang="en" sz="1500" b="1" dirty="0">
                <a:solidFill>
                  <a:schemeClr val="dk1"/>
                </a:solidFill>
              </a:rPr>
            </a:br>
            <a:r>
              <a:rPr lang="en" sz="1500" dirty="0">
                <a:solidFill>
                  <a:schemeClr val="dk1"/>
                </a:solidFill>
              </a:rPr>
              <a:t>Our research highlights the importance of integrating data analytics in public health planning. By acting on these insights, city officials and healthcare providers can improve safety, reduce harm, and make Boston a healthier place for all.</a:t>
            </a:r>
            <a:endParaRPr b="1" dirty="0">
              <a:solidFill>
                <a:schemeClr val="dk1"/>
              </a:solidFill>
              <a:latin typeface="Times New Roman"/>
              <a:ea typeface="Times New Roman"/>
              <a:cs typeface="Times New Roman"/>
              <a:sym typeface="Times New Roman"/>
            </a:endParaRPr>
          </a:p>
        </p:txBody>
      </p:sp>
      <p:pic>
        <p:nvPicPr>
          <p:cNvPr id="285" name="Google Shape;285;p29"/>
          <p:cNvPicPr preferRelativeResize="0"/>
          <p:nvPr/>
        </p:nvPicPr>
        <p:blipFill>
          <a:blip r:embed="rId3">
            <a:alphaModFix/>
          </a:blip>
          <a:stretch>
            <a:fillRect/>
          </a:stretch>
        </p:blipFill>
        <p:spPr>
          <a:xfrm>
            <a:off x="7213100" y="168200"/>
            <a:ext cx="824250" cy="824250"/>
          </a:xfrm>
          <a:prstGeom prst="rect">
            <a:avLst/>
          </a:prstGeom>
          <a:noFill/>
          <a:ln>
            <a:noFill/>
          </a:ln>
        </p:spPr>
      </p:pic>
      <p:pic>
        <p:nvPicPr>
          <p:cNvPr id="286" name="Google Shape;286;p29" title="Weixin Screenshot_20250318182228.png"/>
          <p:cNvPicPr preferRelativeResize="0"/>
          <p:nvPr/>
        </p:nvPicPr>
        <p:blipFill>
          <a:blip r:embed="rId4">
            <a:alphaModFix/>
          </a:blip>
          <a:stretch>
            <a:fillRect/>
          </a:stretch>
        </p:blipFill>
        <p:spPr>
          <a:xfrm>
            <a:off x="8160025" y="142925"/>
            <a:ext cx="874800" cy="874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a:t>
            </a:r>
            <a:endParaRPr/>
          </a:p>
        </p:txBody>
      </p:sp>
      <p:sp>
        <p:nvSpPr>
          <p:cNvPr id="292" name="Google Shape;292;p30"/>
          <p:cNvSpPr txBox="1">
            <a:spLocks noGrp="1"/>
          </p:cNvSpPr>
          <p:nvPr>
            <p:ph type="body" idx="1"/>
          </p:nvPr>
        </p:nvSpPr>
        <p:spPr>
          <a:xfrm>
            <a:off x="311700" y="928493"/>
            <a:ext cx="8520600" cy="3416400"/>
          </a:xfrm>
          <a:prstGeom prst="rect">
            <a:avLst/>
          </a:prstGeom>
        </p:spPr>
        <p:txBody>
          <a:bodyPr spcFirstLastPara="1" wrap="square" lIns="91425" tIns="91425" rIns="91425" bIns="91425" anchor="t" anchorCtr="0">
            <a:noAutofit/>
          </a:bodyPr>
          <a:lstStyle/>
          <a:p>
            <a:pPr marL="457200" marR="0" lvl="0" indent="-330200" algn="l" rtl="0">
              <a:lnSpc>
                <a:spcPct val="150000"/>
              </a:lnSpc>
              <a:spcBef>
                <a:spcPts val="0"/>
              </a:spcBef>
              <a:spcAft>
                <a:spcPts val="0"/>
              </a:spcAft>
              <a:buClr>
                <a:schemeClr val="dk1"/>
              </a:buClr>
              <a:buSzPts val="1600"/>
              <a:buFont typeface="Times New Roman"/>
              <a:buChar char="●"/>
            </a:pPr>
            <a:r>
              <a:rPr lang="en" sz="1600" dirty="0">
                <a:solidFill>
                  <a:schemeClr val="dk1"/>
                </a:solidFill>
                <a:latin typeface="Times New Roman"/>
                <a:ea typeface="Times New Roman"/>
                <a:cs typeface="Times New Roman"/>
                <a:sym typeface="Times New Roman"/>
              </a:rPr>
              <a:t>Boston.gov. (2023). 311 Service Requests Dataset. Retrieved from</a:t>
            </a:r>
            <a:r>
              <a:rPr lang="en" sz="1600" dirty="0">
                <a:solidFill>
                  <a:schemeClr val="dk1"/>
                </a:solidFill>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 https://data.boston.gov/dataset/311-service-requests</a:t>
            </a:r>
            <a:endParaRPr sz="1600" dirty="0">
              <a:solidFill>
                <a:schemeClr val="dk1"/>
              </a:solidFill>
              <a:latin typeface="Times New Roman"/>
              <a:ea typeface="Times New Roman"/>
              <a:cs typeface="Times New Roman"/>
              <a:sym typeface="Times New Roman"/>
            </a:endParaRPr>
          </a:p>
          <a:p>
            <a:pPr marL="457200" marR="0" lvl="0" indent="-330200" algn="l" rtl="0">
              <a:lnSpc>
                <a:spcPct val="150000"/>
              </a:lnSpc>
              <a:spcBef>
                <a:spcPts val="0"/>
              </a:spcBef>
              <a:spcAft>
                <a:spcPts val="0"/>
              </a:spcAft>
              <a:buClr>
                <a:schemeClr val="dk1"/>
              </a:buClr>
              <a:buSzPts val="1600"/>
              <a:buFont typeface="Times New Roman"/>
              <a:buChar char="●"/>
            </a:pPr>
            <a:r>
              <a:rPr lang="en" sz="1600" dirty="0">
                <a:solidFill>
                  <a:schemeClr val="dk1"/>
                </a:solidFill>
                <a:latin typeface="Times New Roman"/>
                <a:ea typeface="Times New Roman"/>
                <a:cs typeface="Times New Roman"/>
                <a:sym typeface="Times New Roman"/>
              </a:rPr>
              <a:t>Boston.gov. (2023a). Public Schools Dataset. Retrieved from</a:t>
            </a:r>
            <a:r>
              <a:rPr lang="en" sz="1600" dirty="0">
                <a:solidFill>
                  <a:schemeClr val="dk1"/>
                </a:solidFill>
                <a:uFill>
                  <a:noFill/>
                </a:u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 https://data.boston.gov/dataset/public-schools</a:t>
            </a:r>
            <a:endParaRPr sz="1600" dirty="0">
              <a:solidFill>
                <a:schemeClr val="dk1"/>
              </a:solidFill>
              <a:latin typeface="Times New Roman"/>
              <a:ea typeface="Times New Roman"/>
              <a:cs typeface="Times New Roman"/>
              <a:sym typeface="Times New Roman"/>
            </a:endParaRPr>
          </a:p>
          <a:p>
            <a:pPr marL="457200" marR="0" lvl="0" indent="-330200" algn="l" rtl="0">
              <a:lnSpc>
                <a:spcPct val="150000"/>
              </a:lnSpc>
              <a:spcBef>
                <a:spcPts val="0"/>
              </a:spcBef>
              <a:spcAft>
                <a:spcPts val="0"/>
              </a:spcAft>
              <a:buClr>
                <a:schemeClr val="dk1"/>
              </a:buClr>
              <a:buSzPts val="1600"/>
              <a:buFont typeface="Times New Roman"/>
              <a:buChar char="●"/>
            </a:pPr>
            <a:r>
              <a:rPr lang="en" sz="1600" dirty="0">
                <a:solidFill>
                  <a:schemeClr val="dk1"/>
                </a:solidFill>
                <a:latin typeface="Times New Roman"/>
                <a:ea typeface="Times New Roman"/>
                <a:cs typeface="Times New Roman"/>
                <a:sym typeface="Times New Roman"/>
              </a:rPr>
              <a:t>Boston.gov. (2023b). Non-Public Schools Dataset. Retrieved from</a:t>
            </a:r>
            <a:r>
              <a:rPr lang="en" sz="1600" dirty="0">
                <a:solidFill>
                  <a:schemeClr val="dk1"/>
                </a:solidFill>
                <a:uFill>
                  <a:noFill/>
                </a:u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 https://data.boston.gov/dataset/non-public-schools</a:t>
            </a:r>
            <a:endParaRPr sz="1600" dirty="0">
              <a:solidFill>
                <a:schemeClr val="dk1"/>
              </a:solidFill>
              <a:latin typeface="Times New Roman"/>
              <a:ea typeface="Times New Roman"/>
              <a:cs typeface="Times New Roman"/>
              <a:sym typeface="Times New Roman"/>
            </a:endParaRPr>
          </a:p>
          <a:p>
            <a:pPr marL="457200" marR="0" lvl="0" indent="-330200" algn="l" rtl="0">
              <a:lnSpc>
                <a:spcPct val="150000"/>
              </a:lnSpc>
              <a:spcBef>
                <a:spcPts val="0"/>
              </a:spcBef>
              <a:spcAft>
                <a:spcPts val="0"/>
              </a:spcAft>
              <a:buClr>
                <a:schemeClr val="dk1"/>
              </a:buClr>
              <a:buSzPts val="1600"/>
              <a:buFont typeface="Times New Roman"/>
              <a:buChar char="●"/>
            </a:pPr>
            <a:r>
              <a:rPr lang="en" sz="1600" dirty="0">
                <a:solidFill>
                  <a:schemeClr val="dk1"/>
                </a:solidFill>
                <a:latin typeface="Times New Roman"/>
                <a:ea typeface="Times New Roman"/>
                <a:cs typeface="Times New Roman"/>
                <a:sym typeface="Times New Roman"/>
              </a:rPr>
              <a:t>Boston.gov. (2023c). Open Spaces Dataset. Retrieved from</a:t>
            </a:r>
            <a:r>
              <a:rPr lang="en" sz="1600" dirty="0">
                <a:solidFill>
                  <a:schemeClr val="dk1"/>
                </a:solidFill>
                <a:uFill>
                  <a:noFill/>
                </a:u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 https://data.boston.gov/dataset/open-space</a:t>
            </a:r>
            <a:endParaRPr sz="1600" dirty="0">
              <a:solidFill>
                <a:schemeClr val="dk1"/>
              </a:solidFill>
              <a:latin typeface="Times New Roman"/>
              <a:ea typeface="Times New Roman"/>
              <a:cs typeface="Times New Roman"/>
              <a:sym typeface="Times New Roman"/>
            </a:endParaRPr>
          </a:p>
          <a:p>
            <a:pPr marL="457200" marR="0" lvl="0" indent="-330200" algn="l" rtl="0">
              <a:lnSpc>
                <a:spcPct val="150000"/>
              </a:lnSpc>
              <a:spcBef>
                <a:spcPts val="0"/>
              </a:spcBef>
              <a:spcAft>
                <a:spcPts val="0"/>
              </a:spcAft>
              <a:buClr>
                <a:schemeClr val="dk1"/>
              </a:buClr>
              <a:buSzPts val="1600"/>
              <a:buFont typeface="Times New Roman"/>
              <a:buChar char="●"/>
            </a:pPr>
            <a:r>
              <a:rPr lang="en" sz="1600" dirty="0">
                <a:solidFill>
                  <a:schemeClr val="dk1"/>
                </a:solidFill>
                <a:latin typeface="Times New Roman"/>
                <a:ea typeface="Times New Roman"/>
                <a:cs typeface="Times New Roman"/>
                <a:sym typeface="Times New Roman"/>
              </a:rPr>
              <a:t>Boston Planning &amp; Development Agency. (2023). Boston Property Parcels Dataset. Retrieved from</a:t>
            </a:r>
            <a:r>
              <a:rPr lang="en" sz="1600" dirty="0">
                <a:solidFill>
                  <a:schemeClr val="dk1"/>
                </a:solidFill>
                <a:uFill>
                  <a:noFill/>
                </a:u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 https://boston.maps.arcgis.com/home/item.html?id=1b8f68085e614f598bb581c7558c8e5e</a:t>
            </a:r>
            <a:endParaRPr sz="1600" dirty="0">
              <a:solidFill>
                <a:schemeClr val="dk1"/>
              </a:solidFill>
              <a:latin typeface="Times New Roman"/>
              <a:ea typeface="Times New Roman"/>
              <a:cs typeface="Times New Roman"/>
              <a:sym typeface="Times New Roman"/>
            </a:endParaRPr>
          </a:p>
        </p:txBody>
      </p:sp>
      <p:pic>
        <p:nvPicPr>
          <p:cNvPr id="293" name="Google Shape;293;p30"/>
          <p:cNvPicPr preferRelativeResize="0"/>
          <p:nvPr/>
        </p:nvPicPr>
        <p:blipFill>
          <a:blip r:embed="rId8">
            <a:alphaModFix/>
          </a:blip>
          <a:stretch>
            <a:fillRect/>
          </a:stretch>
        </p:blipFill>
        <p:spPr>
          <a:xfrm>
            <a:off x="7213100" y="168200"/>
            <a:ext cx="824250" cy="824250"/>
          </a:xfrm>
          <a:prstGeom prst="rect">
            <a:avLst/>
          </a:prstGeom>
          <a:noFill/>
          <a:ln>
            <a:noFill/>
          </a:ln>
        </p:spPr>
      </p:pic>
      <p:pic>
        <p:nvPicPr>
          <p:cNvPr id="294" name="Google Shape;294;p30" title="Weixin Screenshot_20250318182228.png"/>
          <p:cNvPicPr preferRelativeResize="0"/>
          <p:nvPr/>
        </p:nvPicPr>
        <p:blipFill>
          <a:blip r:embed="rId9">
            <a:alphaModFix/>
          </a:blip>
          <a:stretch>
            <a:fillRect/>
          </a:stretch>
        </p:blipFill>
        <p:spPr>
          <a:xfrm>
            <a:off x="8160025" y="142925"/>
            <a:ext cx="874800" cy="874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1"/>
          <p:cNvSpPr txBox="1">
            <a:spLocks noGrp="1"/>
          </p:cNvSpPr>
          <p:nvPr>
            <p:ph type="ctrTitle"/>
          </p:nvPr>
        </p:nvSpPr>
        <p:spPr>
          <a:xfrm>
            <a:off x="360075" y="562725"/>
            <a:ext cx="8405700" cy="4158600"/>
          </a:xfrm>
          <a:prstGeom prst="rect">
            <a:avLst/>
          </a:prstGeom>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4988">
                <a:latin typeface="Times New Roman"/>
                <a:ea typeface="Times New Roman"/>
                <a:cs typeface="Times New Roman"/>
                <a:sym typeface="Times New Roman"/>
              </a:rPr>
              <a:t>Thank You!</a:t>
            </a:r>
            <a:endParaRPr sz="4988">
              <a:latin typeface="Times New Roman"/>
              <a:ea typeface="Times New Roman"/>
              <a:cs typeface="Times New Roman"/>
              <a:sym typeface="Times New Roman"/>
            </a:endParaRPr>
          </a:p>
          <a:p>
            <a:pPr marL="0" lvl="0" indent="0" algn="ctr" rtl="0">
              <a:lnSpc>
                <a:spcPct val="115000"/>
              </a:lnSpc>
              <a:spcBef>
                <a:spcPts val="0"/>
              </a:spcBef>
              <a:spcAft>
                <a:spcPts val="0"/>
              </a:spcAft>
              <a:buNone/>
            </a:pPr>
            <a:r>
              <a:rPr lang="en" sz="4988">
                <a:latin typeface="Times New Roman"/>
                <a:ea typeface="Times New Roman"/>
                <a:cs typeface="Times New Roman"/>
                <a:sym typeface="Times New Roman"/>
              </a:rPr>
              <a:t>We are open for questions.</a:t>
            </a:r>
            <a:endParaRPr sz="4988">
              <a:latin typeface="Times New Roman"/>
              <a:ea typeface="Times New Roman"/>
              <a:cs typeface="Times New Roman"/>
              <a:sym typeface="Times New Roman"/>
            </a:endParaRPr>
          </a:p>
          <a:p>
            <a:pPr marL="0" lvl="0" indent="0" algn="ctr" rtl="0">
              <a:lnSpc>
                <a:spcPct val="150000"/>
              </a:lnSpc>
              <a:spcBef>
                <a:spcPts val="0"/>
              </a:spcBef>
              <a:spcAft>
                <a:spcPts val="0"/>
              </a:spcAft>
              <a:buClr>
                <a:schemeClr val="dk1"/>
              </a:buClr>
              <a:buSzPts val="1100"/>
              <a:buFont typeface="Arial"/>
              <a:buNone/>
            </a:pPr>
            <a:endParaRPr sz="1733">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000"/>
          </a:p>
          <a:p>
            <a:pPr marL="0" lvl="0" indent="0" algn="l" rtl="0">
              <a:lnSpc>
                <a:spcPct val="115000"/>
              </a:lnSpc>
              <a:spcBef>
                <a:spcPts val="0"/>
              </a:spcBef>
              <a:spcAft>
                <a:spcPts val="0"/>
              </a:spcAft>
              <a:buNone/>
            </a:pPr>
            <a:endParaRPr sz="1000"/>
          </a:p>
          <a:p>
            <a:pPr marL="0" lvl="0" indent="0" algn="r" rtl="0">
              <a:lnSpc>
                <a:spcPct val="115000"/>
              </a:lnSpc>
              <a:spcBef>
                <a:spcPts val="0"/>
              </a:spcBef>
              <a:spcAft>
                <a:spcPts val="0"/>
              </a:spcAft>
              <a:buClr>
                <a:schemeClr val="dk1"/>
              </a:buClr>
              <a:buSzPts val="1100"/>
              <a:buFont typeface="Arial"/>
              <a:buNone/>
            </a:pPr>
            <a:r>
              <a:rPr lang="en" sz="1300"/>
              <a:t>Group 8</a:t>
            </a:r>
            <a:endParaRPr sz="1300"/>
          </a:p>
          <a:p>
            <a:pPr marL="0" lvl="0" indent="0" algn="r" rtl="0">
              <a:lnSpc>
                <a:spcPct val="115000"/>
              </a:lnSpc>
              <a:spcBef>
                <a:spcPts val="0"/>
              </a:spcBef>
              <a:spcAft>
                <a:spcPts val="0"/>
              </a:spcAft>
              <a:buClr>
                <a:schemeClr val="dk1"/>
              </a:buClr>
              <a:buSzPts val="1100"/>
              <a:buFont typeface="Arial"/>
              <a:buNone/>
            </a:pPr>
            <a:r>
              <a:rPr lang="en" sz="1300"/>
              <a:t>Shengyao Xu - </a:t>
            </a:r>
            <a:r>
              <a:rPr lang="en" sz="1300" u="sng">
                <a:solidFill>
                  <a:schemeClr val="hlink"/>
                </a:solidFill>
                <a:hlinkClick r:id="rId3"/>
              </a:rPr>
              <a:t>xu.shengy@northeastern.edu</a:t>
            </a:r>
            <a:r>
              <a:rPr lang="en" sz="1300"/>
              <a:t> </a:t>
            </a:r>
            <a:endParaRPr sz="1300"/>
          </a:p>
          <a:p>
            <a:pPr marL="0" lvl="0" indent="0" algn="r" rtl="0">
              <a:lnSpc>
                <a:spcPct val="115000"/>
              </a:lnSpc>
              <a:spcBef>
                <a:spcPts val="0"/>
              </a:spcBef>
              <a:spcAft>
                <a:spcPts val="0"/>
              </a:spcAft>
              <a:buClr>
                <a:schemeClr val="dk1"/>
              </a:buClr>
              <a:buSzPts val="1100"/>
              <a:buFont typeface="Arial"/>
              <a:buNone/>
            </a:pPr>
            <a:r>
              <a:rPr lang="en" sz="1300"/>
              <a:t>Akshay Ganesh Hanchate - </a:t>
            </a:r>
            <a:r>
              <a:rPr lang="en" sz="1300" u="sng">
                <a:solidFill>
                  <a:schemeClr val="hlink"/>
                </a:solidFill>
                <a:hlinkClick r:id="rId4"/>
              </a:rPr>
              <a:t>hanchate.ak@northeastern.edu</a:t>
            </a:r>
            <a:r>
              <a:rPr lang="en" sz="1300"/>
              <a:t> </a:t>
            </a:r>
            <a:endParaRPr sz="1300"/>
          </a:p>
          <a:p>
            <a:pPr marL="0" lvl="0" indent="0" algn="r" rtl="0">
              <a:lnSpc>
                <a:spcPct val="115000"/>
              </a:lnSpc>
              <a:spcBef>
                <a:spcPts val="0"/>
              </a:spcBef>
              <a:spcAft>
                <a:spcPts val="0"/>
              </a:spcAft>
              <a:buClr>
                <a:schemeClr val="dk1"/>
              </a:buClr>
              <a:buSzPts val="1100"/>
              <a:buFont typeface="Arial"/>
              <a:buNone/>
            </a:pPr>
            <a:r>
              <a:rPr lang="en" sz="1300"/>
              <a:t>Vidhi Rajeshbhai Mistry - </a:t>
            </a:r>
            <a:r>
              <a:rPr lang="en" sz="1300" u="sng">
                <a:solidFill>
                  <a:schemeClr val="hlink"/>
                </a:solidFill>
                <a:hlinkClick r:id="rId5"/>
              </a:rPr>
              <a:t>mistry.vi@northeastern.edu</a:t>
            </a:r>
            <a:r>
              <a:rPr lang="en" sz="1300"/>
              <a:t>  </a:t>
            </a:r>
            <a:endParaRPr sz="1300"/>
          </a:p>
          <a:p>
            <a:pPr marL="0" lvl="0" indent="0" algn="r" rtl="0">
              <a:lnSpc>
                <a:spcPct val="115000"/>
              </a:lnSpc>
              <a:spcBef>
                <a:spcPts val="0"/>
              </a:spcBef>
              <a:spcAft>
                <a:spcPts val="0"/>
              </a:spcAft>
              <a:buNone/>
            </a:pPr>
            <a:r>
              <a:rPr lang="en" sz="1300"/>
              <a:t>Hrithick Gokul Yeddula - </a:t>
            </a:r>
            <a:r>
              <a:rPr lang="en" sz="1300" u="sng">
                <a:solidFill>
                  <a:schemeClr val="hlink"/>
                </a:solidFill>
                <a:hlinkClick r:id="rId6"/>
              </a:rPr>
              <a:t>yeddula.hr@northeastern.edu</a:t>
            </a:r>
            <a:r>
              <a:rPr lang="en" sz="1300"/>
              <a:t>  </a:t>
            </a:r>
            <a:endParaRPr sz="2033">
              <a:latin typeface="Times New Roman"/>
              <a:ea typeface="Times New Roman"/>
              <a:cs typeface="Times New Roman"/>
              <a:sym typeface="Times New Roman"/>
            </a:endParaRPr>
          </a:p>
        </p:txBody>
      </p:sp>
      <p:pic>
        <p:nvPicPr>
          <p:cNvPr id="300" name="Google Shape;300;p31"/>
          <p:cNvPicPr preferRelativeResize="0"/>
          <p:nvPr/>
        </p:nvPicPr>
        <p:blipFill>
          <a:blip r:embed="rId7">
            <a:alphaModFix/>
          </a:blip>
          <a:stretch>
            <a:fillRect/>
          </a:stretch>
        </p:blipFill>
        <p:spPr>
          <a:xfrm>
            <a:off x="7191750" y="246975"/>
            <a:ext cx="824250" cy="824250"/>
          </a:xfrm>
          <a:prstGeom prst="rect">
            <a:avLst/>
          </a:prstGeom>
          <a:noFill/>
          <a:ln>
            <a:noFill/>
          </a:ln>
        </p:spPr>
      </p:pic>
      <p:pic>
        <p:nvPicPr>
          <p:cNvPr id="301" name="Google Shape;301;p31" title="Weixin Screenshot_20250318182228.png"/>
          <p:cNvPicPr preferRelativeResize="0"/>
          <p:nvPr/>
        </p:nvPicPr>
        <p:blipFill>
          <a:blip r:embed="rId8">
            <a:alphaModFix/>
          </a:blip>
          <a:stretch>
            <a:fillRect/>
          </a:stretch>
        </p:blipFill>
        <p:spPr>
          <a:xfrm>
            <a:off x="8099200" y="221700"/>
            <a:ext cx="874800" cy="874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1607</Words>
  <Application>Microsoft Office PowerPoint</Application>
  <PresentationFormat>On-screen Show (16:9)</PresentationFormat>
  <Paragraphs>188</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Times New Roman</vt:lpstr>
      <vt:lpstr>Simple Light</vt:lpstr>
      <vt:lpstr>ALY6980 – Capstone Project Presentation Boston 311 Syringe Request Dashboard  Prof. Roy Wada  Group 8: Shengyao Xu, Akshay Ganesh Hanchate,  Vidhi Rajeshbhai Mistry &amp; Hrithick Gokul Yeddula 03/20/2025 </vt:lpstr>
      <vt:lpstr>INTRODUCTION</vt:lpstr>
      <vt:lpstr>Methods</vt:lpstr>
      <vt:lpstr>Data sources</vt:lpstr>
      <vt:lpstr>Methods</vt:lpstr>
      <vt:lpstr>Methods</vt:lpstr>
      <vt:lpstr>Methods</vt:lpstr>
      <vt:lpstr>Methods</vt:lpstr>
      <vt:lpstr>Methods</vt:lpstr>
      <vt:lpstr>Methods</vt:lpstr>
      <vt:lpstr>Methods</vt:lpstr>
      <vt:lpstr>Predictive Models</vt:lpstr>
      <vt:lpstr>K-Means Clustering</vt:lpstr>
      <vt:lpstr>SARIMA Time-Series Forecasting</vt:lpstr>
      <vt:lpstr>List of Policies for Suggestions &amp; Project Outcomes</vt:lpstr>
      <vt:lpstr>List of Policies for Suggestions &amp; Project Outcomes</vt:lpstr>
      <vt:lpstr>Conclusion</vt:lpstr>
      <vt:lpstr>References</vt:lpstr>
      <vt:lpstr>Thank You! We are open for questions.    Group 8 Shengyao Xu - xu.shengy@northeastern.edu  Akshay Ganesh Hanchate - hanchate.ak@northeastern.edu  Vidhi Rajeshbhai Mistry - mistry.vi@northeastern.edu   Hrithick Gokul Yeddula - yeddula.hr@northeastern.edu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圣尧 徐</cp:lastModifiedBy>
  <cp:revision>3</cp:revision>
  <dcterms:modified xsi:type="dcterms:W3CDTF">2025-03-27T05:13:00Z</dcterms:modified>
</cp:coreProperties>
</file>